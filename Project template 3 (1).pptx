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712" r:id="rId4"/>
  </p:sldMasterIdLst>
  <p:notesMasterIdLst>
    <p:notesMasterId r:id="rId17"/>
  </p:notesMasterIdLst>
  <p:sldIdLst>
    <p:sldId id="256" r:id="rId5"/>
    <p:sldId id="2146847054" r:id="rId6"/>
    <p:sldId id="262" r:id="rId7"/>
    <p:sldId id="263" r:id="rId8"/>
    <p:sldId id="265" r:id="rId9"/>
    <p:sldId id="266" r:id="rId10"/>
    <p:sldId id="267" r:id="rId11"/>
    <p:sldId id="268" r:id="rId12"/>
    <p:sldId id="2146847055" r:id="rId13"/>
    <p:sldId id="269" r:id="rId14"/>
    <p:sldId id="2146847058" r:id="rId15"/>
    <p:sldId id="259" r:id="rId1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42BA97"/>
    <a:srgbClr val="8E6C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12466EFC-1F62-CA2C-07B1-96111B302B1B}" v="154" dt="2023-11-22T13:37:01.483"/>
    <p1510:client id="{47C7BCB7-7546-3717-E035-B2126C89CD1A}" v="2" dt="2023-11-22T12:55:27.328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616DA210-FB5B-4158-B5E0-FEB733F419BA}" styleName="Light Style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BC89EF96-8CEA-46FF-86C4-4CE0E7609802}" styleName="Light Style 3 - Accent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8EC20E35-A176-4012-BC5E-935CFFF8708E}" styleName="Medium Style 3">
    <a:wholeTbl>
      <a:tcTxStyle>
        <a:fontRef idx="minor"/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85BE263C-DBD7-4A20-BB59-AAB30ACAA65A}" styleName="Medium Style 3 - Accent 2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EB9631B5-78F2-41C9-869B-9F39066F8104}" styleName="Medium Style 3 - Accent 4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4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1"/>
    <p:restoredTop sz="94658"/>
  </p:normalViewPr>
  <p:slideViewPr>
    <p:cSldViewPr snapToGrid="0">
      <p:cViewPr varScale="1">
        <p:scale>
          <a:sx n="120" d="100"/>
          <a:sy n="120" d="100"/>
        </p:scale>
        <p:origin x="800" y="1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presProps" Target="presProps.xml"/><Relationship Id="rId3" Type="http://schemas.openxmlformats.org/officeDocument/2006/relationships/customXml" Target="../customXml/item3.xml"/><Relationship Id="rId21" Type="http://schemas.openxmlformats.org/officeDocument/2006/relationships/tableStyles" Target="tableStyles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notesMaster" Target="notesMasters/notesMaster1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theme" Target="theme/theme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10" Type="http://schemas.openxmlformats.org/officeDocument/2006/relationships/slide" Target="slides/slide6.xml"/><Relationship Id="rId19" Type="http://schemas.openxmlformats.org/officeDocument/2006/relationships/viewProps" Target="view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microsoft.com/office/2015/10/relationships/revisionInfo" Target="revisionInfo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6256A78-79A6-408F-8148-4F87BB81602D}" type="datetimeFigureOut">
              <a:rPr lang="en-IN" smtClean="0"/>
              <a:t>02/07/26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7E254F1-4415-47BF-9E91-C5D4B9A3335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3800842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446534" y="3085764"/>
            <a:ext cx="11298932" cy="3338149"/>
          </a:xfrm>
          <a:prstGeom prst="rect">
            <a:avLst/>
          </a:prstGeom>
          <a:solidFill>
            <a:srgbClr val="4653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81191" y="1020431"/>
            <a:ext cx="10993549" cy="1475013"/>
          </a:xfrm>
          <a:effectLst/>
        </p:spPr>
        <p:txBody>
          <a:bodyPr anchor="b">
            <a:normAutofit/>
          </a:bodyPr>
          <a:lstStyle>
            <a:lvl1pPr>
              <a:defRPr sz="36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581194" y="2495445"/>
            <a:ext cx="10993546" cy="590321"/>
          </a:xfrm>
        </p:spPr>
        <p:txBody>
          <a:bodyPr anchor="t">
            <a:normAutofit/>
          </a:bodyPr>
          <a:lstStyle>
            <a:lvl1pPr marL="0" indent="0" algn="l">
              <a:buNone/>
              <a:defRPr sz="1600" cap="all">
                <a:solidFill>
                  <a:schemeClr val="accent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7FA0ACE7-29A8-47D3-A7D9-257B711D80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291B17-9318-49DB-B28B-6E5994AE9581}" type="datetime1">
              <a:rPr lang="en-US" smtClean="0"/>
              <a:t>7/2/26</a:t>
            </a:fld>
            <a:endParaRPr lang="en-US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DEC604B9-52E9-4810-8359-47206518D0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81192" y="6423914"/>
            <a:ext cx="691721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5898A89F-CA25-400F-B05A-AECBF2517E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9001758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2" y="702156"/>
            <a:ext cx="11029616" cy="530296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81192" y="1302026"/>
            <a:ext cx="11029615" cy="467332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770E6237-3456-439F-802D-3BA93FC7E3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DD82B9-B8EE-4375-B6FF-88FA6ABB15D9}" type="datetime1">
              <a:rPr lang="en-US" smtClean="0"/>
              <a:t>7/2/26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5244341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>
            <a:spLocks noChangeAspect="1"/>
          </p:cNvSpPr>
          <p:nvPr/>
        </p:nvSpPr>
        <p:spPr>
          <a:xfrm>
            <a:off x="447817" y="5141974"/>
            <a:ext cx="11290860" cy="1258827"/>
          </a:xfrm>
          <a:prstGeom prst="rect">
            <a:avLst/>
          </a:prstGeom>
          <a:solidFill>
            <a:srgbClr val="4653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3" y="2393950"/>
            <a:ext cx="11029615" cy="2147467"/>
          </a:xfrm>
        </p:spPr>
        <p:txBody>
          <a:bodyPr anchor="b">
            <a:normAutofit/>
          </a:bodyPr>
          <a:lstStyle>
            <a:lvl1pPr algn="l">
              <a:defRPr sz="3600" b="0" cap="all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81192" y="4541417"/>
            <a:ext cx="11029615" cy="600556"/>
          </a:xfrm>
        </p:spPr>
        <p:txBody>
          <a:bodyPr anchor="t">
            <a:normAutofit/>
          </a:bodyPr>
          <a:lstStyle>
            <a:lvl1pPr marL="0" indent="0" algn="l">
              <a:buNone/>
              <a:defRPr sz="1800" cap="all">
                <a:solidFill>
                  <a:schemeClr val="accent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61582016-5696-4A93-887F-BBB3B9002F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497495-0637-405E-AE64-5CC7506D51F5}" type="datetime1">
              <a:rPr lang="en-US" smtClean="0"/>
              <a:t>7/2/26</a:t>
            </a:fld>
            <a:endParaRPr lang="en-US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857CFCD5-1192-4E18-8A8F-29E153B44D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81192" y="6423914"/>
            <a:ext cx="691721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E39A109E-5018-4794-92B3-FD5E5BCD95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668097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3" y="729658"/>
            <a:ext cx="11029616" cy="49285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581193" y="1391479"/>
            <a:ext cx="5194767" cy="4469572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416039" y="1391479"/>
            <a:ext cx="5194769" cy="4469572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FFD690-9426-415D-8B65-26881E07B2D4}" type="datetime1">
              <a:rPr lang="en-US" smtClean="0"/>
              <a:t>7/2/26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581192" y="6423914"/>
            <a:ext cx="691721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8332321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"/>
          <p:cNvSpPr>
            <a:spLocks noGrp="1"/>
          </p:cNvSpPr>
          <p:nvPr>
            <p:ph type="title"/>
          </p:nvPr>
        </p:nvSpPr>
        <p:spPr>
          <a:xfrm>
            <a:off x="581193" y="729658"/>
            <a:ext cx="11029616" cy="988332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81191" y="2250891"/>
            <a:ext cx="5194769" cy="557784"/>
          </a:xfrm>
        </p:spPr>
        <p:txBody>
          <a:bodyPr anchor="ctr">
            <a:noAutofit/>
          </a:bodyPr>
          <a:lstStyle>
            <a:lvl1pPr marL="0" indent="0">
              <a:buNone/>
              <a:defRPr sz="2000" b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81194" y="2926052"/>
            <a:ext cx="5194766" cy="2934999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16039" y="2250892"/>
            <a:ext cx="5194770" cy="553373"/>
          </a:xfrm>
        </p:spPr>
        <p:txBody>
          <a:bodyPr anchor="ctr">
            <a:noAutofit/>
          </a:bodyPr>
          <a:lstStyle>
            <a:lvl1pPr marL="0" marR="0" indent="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92000"/>
              <a:buFont typeface="Wingdings 2" panose="05020102010507070707" pitchFamily="18" charset="2"/>
              <a:buNone/>
              <a:tabLst/>
              <a:defRPr sz="2000" b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92000"/>
              <a:buFont typeface="Wingdings 2" panose="05020102010507070707" pitchFamily="18" charset="2"/>
              <a:buNone/>
              <a:tabLst/>
              <a:defRPr/>
            </a:pPr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416037" y="2926052"/>
            <a:ext cx="5194771" cy="2934999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C4989A-474C-40DE-95B9-011C28B71673}" type="datetime1">
              <a:rPr lang="en-US" smtClean="0"/>
              <a:t>7/2/26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581192" y="6423914"/>
            <a:ext cx="691721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4804658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/>
          <p:cNvSpPr>
            <a:spLocks noGrp="1"/>
          </p:cNvSpPr>
          <p:nvPr>
            <p:ph type="title"/>
          </p:nvPr>
        </p:nvSpPr>
        <p:spPr>
          <a:xfrm>
            <a:off x="575894" y="729658"/>
            <a:ext cx="11029616" cy="592246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B4ED54-5B5E-4A04-93D3-5772E3CE3818}" type="datetime1">
              <a:rPr lang="en-US" smtClean="0"/>
              <a:t>7/2/26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581192" y="6423914"/>
            <a:ext cx="691721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293638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DE50D6-574B-40AF-946F-D52A04ADE379}" type="datetime1">
              <a:rPr lang="en-US" smtClean="0"/>
              <a:t>7/2/26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581192" y="6423914"/>
            <a:ext cx="691721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2949497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>
            <a:spLocks noChangeAspect="1"/>
          </p:cNvSpPr>
          <p:nvPr/>
        </p:nvSpPr>
        <p:spPr>
          <a:xfrm>
            <a:off x="447817" y="601200"/>
            <a:ext cx="3682723" cy="5815475"/>
          </a:xfrm>
          <a:prstGeom prst="rect">
            <a:avLst/>
          </a:prstGeom>
          <a:solidFill>
            <a:srgbClr val="4653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67857" y="933450"/>
            <a:ext cx="3031852" cy="1722419"/>
          </a:xfrm>
        </p:spPr>
        <p:txBody>
          <a:bodyPr anchor="b">
            <a:normAutofit/>
          </a:bodyPr>
          <a:lstStyle>
            <a:lvl1pPr algn="l">
              <a:defRPr sz="24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900928" y="1179829"/>
            <a:ext cx="6650991" cy="4658216"/>
          </a:xfrm>
        </p:spPr>
        <p:txBody>
          <a:bodyPr anchor="ctr">
            <a:normAutofit/>
          </a:bodyPr>
          <a:lstStyle>
            <a:lvl1pPr>
              <a:defRPr sz="2000">
                <a:solidFill>
                  <a:schemeClr val="tx2"/>
                </a:solidFill>
              </a:defRPr>
            </a:lvl1pPr>
            <a:lvl2pPr>
              <a:defRPr sz="1800">
                <a:solidFill>
                  <a:schemeClr val="tx2"/>
                </a:solidFill>
              </a:defRPr>
            </a:lvl2pPr>
            <a:lvl3pPr>
              <a:defRPr sz="1600">
                <a:solidFill>
                  <a:schemeClr val="tx2"/>
                </a:solidFill>
              </a:defRPr>
            </a:lvl3pPr>
            <a:lvl4pPr>
              <a:defRPr sz="1400">
                <a:solidFill>
                  <a:schemeClr val="tx2"/>
                </a:solidFill>
              </a:defRPr>
            </a:lvl4pPr>
            <a:lvl5pPr>
              <a:defRPr sz="1400">
                <a:solidFill>
                  <a:schemeClr val="tx2"/>
                </a:solidFill>
              </a:defRPr>
            </a:lvl5pPr>
            <a:lvl6pPr>
              <a:defRPr sz="1400">
                <a:solidFill>
                  <a:schemeClr val="tx2"/>
                </a:solidFill>
              </a:defRPr>
            </a:lvl6pPr>
            <a:lvl7pPr>
              <a:defRPr sz="1400">
                <a:solidFill>
                  <a:schemeClr val="tx2"/>
                </a:solidFill>
              </a:defRPr>
            </a:lvl7pPr>
            <a:lvl8pPr>
              <a:defRPr sz="1400">
                <a:solidFill>
                  <a:schemeClr val="tx2"/>
                </a:solidFill>
              </a:defRPr>
            </a:lvl8pPr>
            <a:lvl9pPr>
              <a:defRPr sz="1400">
                <a:solidFill>
                  <a:schemeClr val="tx2"/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67857" y="2836654"/>
            <a:ext cx="3031852" cy="3001392"/>
          </a:xfrm>
        </p:spPr>
        <p:txBody>
          <a:bodyPr anchor="t">
            <a:normAutofit/>
          </a:bodyPr>
          <a:lstStyle>
            <a:lvl1pPr marL="0" indent="0" algn="l">
              <a:buNone/>
              <a:defRPr sz="1600">
                <a:solidFill>
                  <a:srgbClr val="FFFFFF"/>
                </a:solidFill>
              </a:defRPr>
            </a:lvl1pPr>
            <a:lvl2pPr marL="457200" indent="0">
              <a:buNone/>
              <a:defRPr sz="11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0B919CC2-2A65-446F-B538-9E6249035445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605951" y="6456916"/>
            <a:ext cx="2844799" cy="365125"/>
          </a:xfrm>
        </p:spPr>
        <p:txBody>
          <a:bodyPr/>
          <a:lstStyle/>
          <a:p>
            <a:fld id="{D82884F1-FFEA-405F-9602-3DCA865EDA4E}" type="datetime1">
              <a:rPr lang="en-US" smtClean="0"/>
              <a:t>7/2/26</a:t>
            </a:fld>
            <a:endParaRPr lang="en-US"/>
          </a:p>
        </p:txBody>
      </p:sp>
      <p:sp>
        <p:nvSpPr>
          <p:cNvPr id="10" name="Footer Placeholder 9">
            <a:extLst>
              <a:ext uri="{FF2B5EF4-FFF2-40B4-BE49-F238E27FC236}">
                <a16:creationId xmlns:a16="http://schemas.microsoft.com/office/drawing/2014/main" id="{B72412AE-119E-4982-8B24-63365EFCA7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81192" y="6452590"/>
            <a:ext cx="691721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7FC4BB19-6AD1-45CF-9F99-00B109890F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558300" y="6456916"/>
            <a:ext cx="1052510" cy="365125"/>
          </a:xfrm>
        </p:spPr>
        <p:txBody>
          <a:bodyPr/>
          <a:lstStyle/>
          <a:p>
            <a:fld id="{3A98EE3D-8CD1-4C3F-BD1C-C98C9596463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6176669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3" y="4693389"/>
            <a:ext cx="11029616" cy="566738"/>
          </a:xfrm>
        </p:spPr>
        <p:txBody>
          <a:bodyPr anchor="b">
            <a:normAutofit/>
          </a:bodyPr>
          <a:lstStyle>
            <a:lvl1pPr algn="l">
              <a:defRPr sz="2400" b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47817" y="641350"/>
            <a:ext cx="11290859" cy="3651249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81192" y="5260127"/>
            <a:ext cx="11029617" cy="998148"/>
          </a:xfrm>
        </p:spPr>
        <p:txBody>
          <a:bodyPr anchor="t"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18DB4A-8810-4A10-AD5C-D5E2C667F5B3}" type="datetime1">
              <a:rPr lang="en-US" smtClean="0"/>
              <a:t>7/2/26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581192" y="6423914"/>
            <a:ext cx="6917210" cy="365125"/>
          </a:xfrm>
          <a:prstGeom prst="rect">
            <a:avLst/>
          </a:prstGeom>
        </p:spPr>
        <p:txBody>
          <a:bodyPr/>
          <a:lstStyle/>
          <a:p>
            <a:pPr algn="l"/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7328955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/>
          <p:cNvSpPr>
            <a:spLocks noGrp="1"/>
          </p:cNvSpPr>
          <p:nvPr>
            <p:ph type="title"/>
          </p:nvPr>
        </p:nvSpPr>
        <p:spPr>
          <a:xfrm>
            <a:off x="581192" y="702156"/>
            <a:ext cx="11029616" cy="101380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>
            <a:lvl1pPr algn="l">
              <a:defRPr/>
            </a:lvl1pPr>
            <a:lvl2pPr algn="l">
              <a:defRPr/>
            </a:lvl2pPr>
            <a:lvl3pPr algn="l">
              <a:defRPr/>
            </a:lvl3pPr>
            <a:lvl4pPr algn="l">
              <a:defRPr/>
            </a:lvl4pPr>
            <a:lvl5pPr algn="l"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ED4963-E985-44C4-B8C4-FDD613B7C2F8}" type="datetime1">
              <a:rPr lang="en-US" smtClean="0"/>
              <a:t>7/2/26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81192" y="6423914"/>
            <a:ext cx="691721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8359114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>
            <a:spLocks noChangeAspect="1"/>
          </p:cNvSpPr>
          <p:nvPr/>
        </p:nvSpPr>
        <p:spPr>
          <a:xfrm>
            <a:off x="8058151" y="599725"/>
            <a:ext cx="3687316" cy="5816950"/>
          </a:xfrm>
          <a:prstGeom prst="rect">
            <a:avLst/>
          </a:prstGeom>
          <a:solidFill>
            <a:srgbClr val="4653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204200" y="863600"/>
            <a:ext cx="3124200" cy="4807326"/>
          </a:xfrm>
        </p:spPr>
        <p:txBody>
          <a:bodyPr vert="eaVert" anchor="ctr"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774923" y="863600"/>
            <a:ext cx="7161625" cy="4807326"/>
          </a:xfrm>
        </p:spPr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F6423B97-A5D4-47B9-8861-73B3707A04CF}"/>
              </a:ext>
            </a:extLst>
          </p:cNvPr>
          <p:cNvSpPr/>
          <p:nvPr/>
        </p:nvSpPr>
        <p:spPr>
          <a:xfrm>
            <a:off x="446534" y="457200"/>
            <a:ext cx="3703320" cy="94997"/>
          </a:xfrm>
          <a:prstGeom prst="rect">
            <a:avLst/>
          </a:prstGeom>
          <a:solidFill>
            <a:srgbClr val="969F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1AEC0421-37B4-4481-A10D-69FDF5EC7909}"/>
              </a:ext>
            </a:extLst>
          </p:cNvPr>
          <p:cNvSpPr/>
          <p:nvPr/>
        </p:nvSpPr>
        <p:spPr>
          <a:xfrm>
            <a:off x="8042147" y="453643"/>
            <a:ext cx="3703320" cy="98554"/>
          </a:xfrm>
          <a:prstGeom prst="rect">
            <a:avLst/>
          </a:prstGeom>
          <a:solidFill>
            <a:srgbClr val="4653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5F7265B5-9F97-4F1E-99E9-74F7B7E62337}"/>
              </a:ext>
            </a:extLst>
          </p:cNvPr>
          <p:cNvSpPr/>
          <p:nvPr/>
        </p:nvSpPr>
        <p:spPr>
          <a:xfrm>
            <a:off x="4241830" y="457200"/>
            <a:ext cx="3703320" cy="9144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1" name="Date Placeholder 10">
            <a:extLst>
              <a:ext uri="{FF2B5EF4-FFF2-40B4-BE49-F238E27FC236}">
                <a16:creationId xmlns:a16="http://schemas.microsoft.com/office/drawing/2014/main" id="{5C74A470-3BD3-4F33-80E5-67E6E87FCB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291B17-9318-49DB-B28B-6E5994AE9581}" type="datetime1">
              <a:rPr lang="en-US" smtClean="0"/>
              <a:t>7/2/26</a:t>
            </a:fld>
            <a:endParaRPr lang="en-US"/>
          </a:p>
        </p:txBody>
      </p:sp>
      <p:sp>
        <p:nvSpPr>
          <p:cNvPr id="12" name="Footer Placeholder 11">
            <a:extLst>
              <a:ext uri="{FF2B5EF4-FFF2-40B4-BE49-F238E27FC236}">
                <a16:creationId xmlns:a16="http://schemas.microsoft.com/office/drawing/2014/main" id="{9A3A30BA-DB50-4D7D-BCDE-17D20FB354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81192" y="6423914"/>
            <a:ext cx="691721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76FF9E58-C0B2-436B-A21C-DB45A00D65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884962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581192" y="705124"/>
            <a:ext cx="11029616" cy="557146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81192" y="1415198"/>
            <a:ext cx="11029616" cy="457285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605951" y="6423914"/>
            <a:ext cx="284479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fld id="{ED291B17-9318-49DB-B28B-6E5994AE9581}" type="datetime1">
              <a:rPr lang="en-US" smtClean="0"/>
              <a:t>7/2/26</a:t>
            </a:fld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558300" y="6423914"/>
            <a:ext cx="105251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fld id="{3A98EE3D-8CD1-4C3F-BD1C-C98C9596463C}" type="slidenum">
              <a:rPr lang="en-US" smtClean="0"/>
              <a:t>‹#›</a:t>
            </a:fld>
            <a:endParaRPr lang="en-US"/>
          </a:p>
        </p:txBody>
      </p:sp>
      <p:sp>
        <p:nvSpPr>
          <p:cNvPr id="9" name="Rectangle 8"/>
          <p:cNvSpPr/>
          <p:nvPr/>
        </p:nvSpPr>
        <p:spPr>
          <a:xfrm>
            <a:off x="446534" y="457200"/>
            <a:ext cx="3703320" cy="94997"/>
          </a:xfrm>
          <a:prstGeom prst="rect">
            <a:avLst/>
          </a:prstGeom>
          <a:solidFill>
            <a:srgbClr val="4653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0" name="Rectangle 9"/>
          <p:cNvSpPr/>
          <p:nvPr/>
        </p:nvSpPr>
        <p:spPr>
          <a:xfrm>
            <a:off x="8042147" y="453643"/>
            <a:ext cx="3703320" cy="98554"/>
          </a:xfrm>
          <a:prstGeom prst="rect">
            <a:avLst/>
          </a:prstGeom>
          <a:solidFill>
            <a:srgbClr val="969F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1" name="Rectangle 10"/>
          <p:cNvSpPr/>
          <p:nvPr/>
        </p:nvSpPr>
        <p:spPr>
          <a:xfrm>
            <a:off x="4241830" y="457200"/>
            <a:ext cx="3703320" cy="9144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pic>
        <p:nvPicPr>
          <p:cNvPr id="8" name="Picture 7" descr="Logo&#10;&#10;Description automatically generated">
            <a:extLst>
              <a:ext uri="{FF2B5EF4-FFF2-40B4-BE49-F238E27FC236}">
                <a16:creationId xmlns:a16="http://schemas.microsoft.com/office/drawing/2014/main" id="{14A64E4D-8DED-7830-2955-1BE78C5B0655}"/>
              </a:ext>
            </a:extLst>
          </p:cNvPr>
          <p:cNvPicPr>
            <a:picLocks noChangeAspect="1"/>
          </p:cNvPicPr>
          <p:nvPr userDrawn="1"/>
        </p:nvPicPr>
        <p:blipFill>
          <a:blip r:embed="rId13"/>
          <a:stretch>
            <a:fillRect/>
          </a:stretch>
        </p:blipFill>
        <p:spPr>
          <a:xfrm>
            <a:off x="10485003" y="6437910"/>
            <a:ext cx="1125805" cy="3651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0089789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56" r:id="rId1"/>
    <p:sldLayoutId id="2147483757" r:id="rId2"/>
    <p:sldLayoutId id="2147483758" r:id="rId3"/>
    <p:sldLayoutId id="2147483759" r:id="rId4"/>
    <p:sldLayoutId id="2147483711" r:id="rId5"/>
    <p:sldLayoutId id="2147483760" r:id="rId6"/>
    <p:sldLayoutId id="2147483762" r:id="rId7"/>
    <p:sldLayoutId id="2147483706" r:id="rId8"/>
    <p:sldLayoutId id="2147483709" r:id="rId9"/>
    <p:sldLayoutId id="2147483707" r:id="rId10"/>
    <p:sldLayoutId id="2147483708" r:id="rId11"/>
  </p:sldLayoutIdLst>
  <p:hf sldNum="0" hdr="0" ftr="0" dt="0"/>
  <p:txStyles>
    <p:titleStyle>
      <a:lvl1pPr algn="l" defTabSz="457200" rtl="0" eaLnBrk="1" latinLnBrk="0" hangingPunct="1">
        <a:lnSpc>
          <a:spcPct val="100000"/>
        </a:lnSpc>
        <a:spcBef>
          <a:spcPct val="0"/>
        </a:spcBef>
        <a:buNone/>
        <a:defRPr sz="2800" b="0" kern="1200" cap="all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06000" indent="-306000" algn="l" defTabSz="457200" rtl="0" eaLnBrk="1" latinLnBrk="0" hangingPunct="1">
        <a:lnSpc>
          <a:spcPct val="110000"/>
        </a:lnSpc>
        <a:spcBef>
          <a:spcPct val="20000"/>
        </a:spcBef>
        <a:spcAft>
          <a:spcPts val="600"/>
        </a:spcAft>
        <a:buClr>
          <a:schemeClr val="accent1"/>
        </a:buClr>
        <a:buSzPct val="92000"/>
        <a:buFont typeface="Wingdings 2" panose="05020102010507070707" pitchFamily="18" charset="2"/>
        <a:buChar char=""/>
        <a:defRPr sz="17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630000" indent="-306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92000"/>
        <a:buFont typeface="Wingdings 2" panose="05020102010507070707" pitchFamily="18" charset="2"/>
        <a:buChar char="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900000" indent="-270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92000"/>
        <a:buFont typeface="Wingdings 2" panose="05020102010507070707" pitchFamily="18" charset="2"/>
        <a:buChar char=""/>
        <a:defRPr sz="13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242000" indent="-234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92000"/>
        <a:buFont typeface="Wingdings 2" panose="05020102010507070707" pitchFamily="18" charset="2"/>
        <a:buChar char=""/>
        <a:defRPr sz="11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1602000" indent="-234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92000"/>
        <a:buFont typeface="Wingdings 2" panose="05020102010507070707" pitchFamily="18" charset="2"/>
        <a:buChar char=""/>
        <a:defRPr sz="11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9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6pPr>
      <a:lvl7pPr marL="22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7pPr>
      <a:lvl8pPr marL="25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8pPr>
      <a:lvl9pPr marL="28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hyperlink" Target="https://streamlit.io/" TargetMode="External"/><Relationship Id="rId2" Type="http://schemas.openxmlformats.org/officeDocument/2006/relationships/hyperlink" Target="https://huggingface.co/" TargetMode="External"/><Relationship Id="rId1" Type="http://schemas.openxmlformats.org/officeDocument/2006/relationships/slideLayout" Target="../slideLayouts/slideLayout2.xml"/><Relationship Id="rId5" Type="http://schemas.openxmlformats.org/officeDocument/2006/relationships/hyperlink" Target="https://scikit-learn.org/stable/supervised_learning.html" TargetMode="External"/><Relationship Id="rId4" Type="http://schemas.openxmlformats.org/officeDocument/2006/relationships/hyperlink" Target="https://www.python.org/" TargetMode="Externa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A11E26-4C38-41A6-9857-11032CEECD8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359108" y="1821635"/>
            <a:ext cx="9144000" cy="977778"/>
          </a:xfrm>
        </p:spPr>
        <p:txBody>
          <a:bodyPr/>
          <a:lstStyle/>
          <a:p>
            <a:pPr algn="ctr"/>
            <a:r>
              <a:rPr lang="en-US" b="1" dirty="0">
                <a:solidFill>
                  <a:schemeClr val="accent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Project title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-329782" y="1034321"/>
            <a:ext cx="12726648" cy="584775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ctr"/>
            <a:r>
              <a:rPr lang="en-US" sz="3200" b="1">
                <a:solidFill>
                  <a:schemeClr val="accent1">
                    <a:lumMod val="75000"/>
                  </a:schemeClr>
                </a:solidFill>
                <a:latin typeface="Arial"/>
                <a:cs typeface="Arial"/>
              </a:rPr>
              <a:t>CAPSTONE PROJECT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2196" y="4058588"/>
            <a:ext cx="7980183" cy="1631216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en-US" sz="2000" b="1" dirty="0">
                <a:solidFill>
                  <a:schemeClr val="accent1">
                    <a:lumMod val="75000"/>
                  </a:schemeClr>
                </a:solidFill>
                <a:latin typeface="Arial" pitchFamily="34" charset="0"/>
                <a:cs typeface="Arial" pitchFamily="34" charset="0"/>
              </a:rPr>
              <a:t>Presented By:</a:t>
            </a:r>
          </a:p>
          <a:p>
            <a:pPr marL="457200" indent="-457200">
              <a:buAutoNum type="arabicPeriod"/>
            </a:pPr>
            <a:r>
              <a:rPr lang="en-US" sz="2000" b="1" dirty="0">
                <a:solidFill>
                  <a:schemeClr val="accent1">
                    <a:lumMod val="75000"/>
                  </a:schemeClr>
                </a:solidFill>
                <a:latin typeface="Arial"/>
                <a:cs typeface="Arial"/>
              </a:rPr>
              <a:t>Student Name-  Ishan Bassin</a:t>
            </a:r>
          </a:p>
          <a:p>
            <a:pPr marL="457200" indent="-457200">
              <a:buAutoNum type="arabicPeriod"/>
            </a:pPr>
            <a:r>
              <a:rPr lang="en-US" sz="2000" b="1" dirty="0">
                <a:solidFill>
                  <a:schemeClr val="accent1">
                    <a:lumMod val="75000"/>
                  </a:schemeClr>
                </a:solidFill>
                <a:latin typeface="Arial"/>
                <a:cs typeface="Arial"/>
              </a:rPr>
              <a:t>College Name-  St Vincent Pallotti College Of Engineering And Technology</a:t>
            </a:r>
          </a:p>
          <a:p>
            <a:pPr marL="457200" indent="-457200">
              <a:buAutoNum type="arabicPeriod"/>
            </a:pPr>
            <a:r>
              <a:rPr lang="en-US" sz="2000" b="1" dirty="0">
                <a:solidFill>
                  <a:schemeClr val="accent1">
                    <a:lumMod val="75000"/>
                  </a:schemeClr>
                </a:solidFill>
                <a:latin typeface="Arial"/>
                <a:cs typeface="Arial"/>
              </a:rPr>
              <a:t>Department- CSE</a:t>
            </a:r>
          </a:p>
        </p:txBody>
      </p:sp>
    </p:spTree>
    <p:extLst>
      <p:ext uri="{BB962C8B-B14F-4D97-AF65-F5344CB8AC3E}">
        <p14:creationId xmlns:p14="http://schemas.microsoft.com/office/powerpoint/2010/main" val="95332558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FFEB4C-F209-4AE7-AA2B-B3C26CE2C51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9573" y="558468"/>
            <a:ext cx="10515600" cy="1325563"/>
          </a:xfrm>
        </p:spPr>
        <p:txBody>
          <a:bodyPr/>
          <a:lstStyle/>
          <a:p>
            <a:r>
              <a:rPr lang="en-US" b="1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OUTLINE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2678641-EEA3-4EC4-BF39-4075B0C120E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618938"/>
            <a:ext cx="11019020" cy="5239062"/>
          </a:xfrm>
        </p:spPr>
        <p:txBody>
          <a:bodyPr vert="horz" lIns="91440" tIns="45720" rIns="91440" bIns="45720" rtlCol="0" anchor="t">
            <a:noAutofit/>
          </a:bodyPr>
          <a:lstStyle/>
          <a:p>
            <a:pPr marL="0" indent="0">
              <a:buNone/>
            </a:pPr>
            <a:r>
              <a:rPr lang="en-US" sz="2000" b="1" dirty="0">
                <a:latin typeface="Arial"/>
                <a:ea typeface="+mn-lt"/>
                <a:cs typeface="Arial"/>
              </a:rPr>
              <a:t>  </a:t>
            </a:r>
            <a:endParaRPr lang="en-US" dirty="0">
              <a:latin typeface="Arial"/>
              <a:cs typeface="Arial"/>
            </a:endParaRPr>
          </a:p>
          <a:p>
            <a:r>
              <a:rPr lang="en-US" sz="2000" b="1" dirty="0">
                <a:latin typeface="Arial"/>
                <a:ea typeface="+mn-lt"/>
                <a:cs typeface="Arial"/>
              </a:rPr>
              <a:t>Problem Statement </a:t>
            </a:r>
            <a:r>
              <a:rPr lang="en-US" sz="2000" dirty="0">
                <a:latin typeface="Arial"/>
                <a:ea typeface="+mn-lt"/>
                <a:cs typeface="Arial"/>
              </a:rPr>
              <a:t>(Should not include solution)</a:t>
            </a:r>
            <a:endParaRPr lang="en-US" dirty="0">
              <a:latin typeface="Arial"/>
              <a:cs typeface="Arial"/>
            </a:endParaRPr>
          </a:p>
          <a:p>
            <a:r>
              <a:rPr lang="en-US" sz="2000" b="1" dirty="0">
                <a:latin typeface="Arial"/>
                <a:ea typeface="+mn-lt"/>
                <a:cs typeface="Arial"/>
              </a:rPr>
              <a:t>Proposed System/Solution</a:t>
            </a:r>
            <a:endParaRPr lang="en-US" dirty="0">
              <a:latin typeface="Arial"/>
              <a:cs typeface="Arial"/>
            </a:endParaRPr>
          </a:p>
          <a:p>
            <a:r>
              <a:rPr lang="en-US" sz="2000" b="1" dirty="0">
                <a:latin typeface="Arial"/>
                <a:ea typeface="+mn-lt"/>
                <a:cs typeface="Calibri"/>
              </a:rPr>
              <a:t>System </a:t>
            </a:r>
            <a:r>
              <a:rPr lang="en-US" sz="2000" b="1" dirty="0">
                <a:latin typeface="Arial"/>
                <a:ea typeface="+mn-lt"/>
                <a:cs typeface="+mn-lt"/>
              </a:rPr>
              <a:t>Development Approach </a:t>
            </a:r>
            <a:r>
              <a:rPr lang="en-US" sz="2000" dirty="0">
                <a:latin typeface="Arial"/>
                <a:ea typeface="+mn-lt"/>
                <a:cs typeface="+mn-lt"/>
              </a:rPr>
              <a:t>(Technology Used) </a:t>
            </a:r>
            <a:endParaRPr lang="en-US" dirty="0">
              <a:latin typeface="Arial"/>
              <a:ea typeface="+mn-lt"/>
              <a:cs typeface="+mn-lt"/>
            </a:endParaRPr>
          </a:p>
          <a:p>
            <a:r>
              <a:rPr lang="en-US" sz="2000" b="1" dirty="0">
                <a:latin typeface="Arial"/>
                <a:ea typeface="+mn-lt"/>
                <a:cs typeface="+mn-lt"/>
              </a:rPr>
              <a:t>Algorithm &amp; Deployment  </a:t>
            </a:r>
            <a:endParaRPr lang="en-US" dirty="0">
              <a:latin typeface="Arial"/>
              <a:cs typeface="Calibri"/>
            </a:endParaRPr>
          </a:p>
          <a:p>
            <a:r>
              <a:rPr lang="en-US" sz="2000" b="1" dirty="0">
                <a:latin typeface="Arial"/>
                <a:ea typeface="+mn-lt"/>
                <a:cs typeface="Arial"/>
              </a:rPr>
              <a:t>Result</a:t>
            </a:r>
          </a:p>
          <a:p>
            <a:r>
              <a:rPr lang="en-US" sz="2000" b="1" dirty="0">
                <a:latin typeface="Arial"/>
                <a:ea typeface="+mn-lt"/>
                <a:cs typeface="Arial"/>
              </a:rPr>
              <a:t>Conclusion</a:t>
            </a:r>
            <a:endParaRPr lang="en-US" dirty="0">
              <a:latin typeface="Arial"/>
              <a:cs typeface="Arial"/>
            </a:endParaRPr>
          </a:p>
          <a:p>
            <a:r>
              <a:rPr lang="en-US" sz="2000" b="1" dirty="0">
                <a:latin typeface="Arial"/>
                <a:ea typeface="+mn-lt"/>
                <a:cs typeface="Arial"/>
              </a:rPr>
              <a:t>Future Scope</a:t>
            </a:r>
          </a:p>
          <a:p>
            <a:r>
              <a:rPr lang="en-US" sz="2000" b="1" dirty="0">
                <a:latin typeface="Arial"/>
                <a:ea typeface="+mn-lt"/>
                <a:cs typeface="Arial"/>
              </a:rPr>
              <a:t>References</a:t>
            </a:r>
            <a:endParaRPr lang="en-US" dirty="0">
              <a:latin typeface="Arial"/>
              <a:cs typeface="Arial"/>
            </a:endParaRPr>
          </a:p>
          <a:p>
            <a:endParaRPr lang="en-US" dirty="0">
              <a:latin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90015371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8FBA75B4-2DD5-42EB-9397-F36BFB8BA7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sz="4400" b="1" dirty="0">
                <a:solidFill>
                  <a:schemeClr val="accent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Problem Statement</a:t>
            </a:r>
            <a:endParaRPr lang="en-US" sz="4400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4E24E60-7E3F-B66C-8C23-63E80A76344A}"/>
              </a:ext>
            </a:extLst>
          </p:cNvPr>
          <p:cNvSpPr txBox="1"/>
          <p:nvPr/>
        </p:nvSpPr>
        <p:spPr>
          <a:xfrm>
            <a:off x="829340" y="1562986"/>
            <a:ext cx="9183220" cy="175432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b="1" dirty="0"/>
              <a:t>AI Travel Planner for Students</a:t>
            </a:r>
            <a:endParaRPr lang="en-IN" dirty="0"/>
          </a:p>
          <a:p>
            <a:r>
              <a:rPr lang="en-IN" dirty="0"/>
              <a:t>Planning trips is often time-consuming and expensive, especially for students with limited</a:t>
            </a:r>
          </a:p>
          <a:p>
            <a:r>
              <a:rPr lang="en-IN" dirty="0"/>
              <a:t>budgets. Current travel apps provide generic suggestions. A system that integrates maps,</a:t>
            </a:r>
          </a:p>
          <a:p>
            <a:r>
              <a:rPr lang="en-IN" dirty="0"/>
              <a:t>location data, and generative AI to create personalized, budget-friendly itineraries would help</a:t>
            </a:r>
          </a:p>
          <a:p>
            <a:r>
              <a:rPr lang="en-IN" dirty="0"/>
              <a:t>students plan efficient and enjoyable trips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8642116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8FBA75B4-2DD5-42EB-9397-F36BFB8BA7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sz="4400" b="1">
                <a:solidFill>
                  <a:schemeClr val="accent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Proposed Solution</a:t>
            </a:r>
            <a:endParaRPr lang="en-US" sz="4400"/>
          </a:p>
        </p:txBody>
      </p:sp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E041FD9D-DF07-9C37-1E61-1D920E0EF1D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41671" y="1087378"/>
            <a:ext cx="11613485" cy="5563973"/>
          </a:xfrm>
        </p:spPr>
        <p:txBody>
          <a:bodyPr vert="horz" lIns="91440" tIns="45720" rIns="91440" bIns="45720" rtlCol="0" anchor="ctr">
            <a:noAutofit/>
          </a:bodyPr>
          <a:lstStyle/>
          <a:p>
            <a:pPr marL="305435" indent="-305435"/>
            <a:endParaRPr lang="en-IN" sz="1600" dirty="0"/>
          </a:p>
          <a:p>
            <a:pPr marL="0" indent="0">
              <a:buNone/>
            </a:pPr>
            <a:endParaRPr lang="en-IN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9469275-2A0F-4CCF-4818-D0A201CC0B46}"/>
              </a:ext>
            </a:extLst>
          </p:cNvPr>
          <p:cNvSpPr txBox="1"/>
          <p:nvPr/>
        </p:nvSpPr>
        <p:spPr>
          <a:xfrm>
            <a:off x="776177" y="1637414"/>
            <a:ext cx="10834631" cy="42473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/>
              <a:t>The system will:</a:t>
            </a:r>
          </a:p>
          <a:p>
            <a:r>
              <a:rPr lang="en-IN" dirty="0"/>
              <a:t>Generate customized travel itineraries based on budget, interests, and trip duration. </a:t>
            </a:r>
          </a:p>
          <a:p>
            <a:r>
              <a:rPr lang="en-IN" dirty="0"/>
              <a:t>Recommend affordable transportation, accommodation, and food options. </a:t>
            </a:r>
          </a:p>
          <a:p>
            <a:r>
              <a:rPr lang="en-IN" dirty="0"/>
              <a:t>Optimize routes using Google Maps for minimum travel time and cost. </a:t>
            </a:r>
          </a:p>
          <a:p>
            <a:r>
              <a:rPr lang="en-IN" dirty="0"/>
              <a:t>Suggest nearby attractions and hidden gems. </a:t>
            </a:r>
          </a:p>
          <a:p>
            <a:r>
              <a:rPr lang="en-IN" dirty="0"/>
              <a:t>Provide live weather updates and automatically adjust travel plans. </a:t>
            </a:r>
          </a:p>
          <a:p>
            <a:r>
              <a:rPr lang="en-IN" dirty="0"/>
              <a:t>Track travel expenses and predict remaining budget. </a:t>
            </a:r>
          </a:p>
          <a:p>
            <a:r>
              <a:rPr lang="en-IN" dirty="0"/>
              <a:t>Offer safety recommendations and emergency assistance. </a:t>
            </a:r>
          </a:p>
          <a:p>
            <a:r>
              <a:rPr lang="en-IN" dirty="0"/>
              <a:t>Support solo as well as group trip planning. </a:t>
            </a:r>
          </a:p>
          <a:p>
            <a:r>
              <a:rPr lang="en-IN" b="1" dirty="0"/>
              <a:t>Expected Benefits</a:t>
            </a:r>
          </a:p>
          <a:p>
            <a:r>
              <a:rPr lang="en-IN" dirty="0"/>
              <a:t>Saves planning time by over 80%. </a:t>
            </a:r>
          </a:p>
          <a:p>
            <a:r>
              <a:rPr lang="en-IN" dirty="0"/>
              <a:t>Reduces unnecessary travel expenses. </a:t>
            </a:r>
          </a:p>
          <a:p>
            <a:r>
              <a:rPr lang="en-IN" dirty="0"/>
              <a:t>Provides a personalized travel experience. </a:t>
            </a:r>
          </a:p>
          <a:p>
            <a:r>
              <a:rPr lang="en-IN" dirty="0"/>
              <a:t>Makes travel planning simple for students with limited budgets.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1035848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8FBA75B4-2DD5-42EB-9397-F36BFB8BA7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1192" y="662572"/>
            <a:ext cx="11029616" cy="530296"/>
          </a:xfrm>
        </p:spPr>
        <p:txBody>
          <a:bodyPr>
            <a:normAutofit fontScale="90000"/>
          </a:bodyPr>
          <a:lstStyle/>
          <a:p>
            <a:r>
              <a:rPr lang="en-US" sz="4400" b="1">
                <a:solidFill>
                  <a:schemeClr val="accent1"/>
                </a:solidFill>
                <a:latin typeface="Arial"/>
                <a:ea typeface="+mj-lt"/>
                <a:cs typeface="Arial"/>
              </a:rPr>
              <a:t>System  Approach</a:t>
            </a:r>
            <a:endParaRPr lang="en-US" sz="4400">
              <a:solidFill>
                <a:schemeClr val="accent1"/>
              </a:solidFill>
              <a:latin typeface="Calibri Light"/>
              <a:cs typeface="Calibri Light"/>
            </a:endParaRPr>
          </a:p>
        </p:txBody>
      </p:sp>
      <p:sp>
        <p:nvSpPr>
          <p:cNvPr id="3" name="Rectangle 1">
            <a:extLst>
              <a:ext uri="{FF2B5EF4-FFF2-40B4-BE49-F238E27FC236}">
                <a16:creationId xmlns:a16="http://schemas.microsoft.com/office/drawing/2014/main" id="{0614F04E-6F49-1ECF-2A47-F63BBF04A3AC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0" y="1316369"/>
            <a:ext cx="2434856" cy="275998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r>
              <a:rPr lang="en-IN" sz="1800" b="1" dirty="0"/>
              <a:t>Step 1: User Input</a:t>
            </a:r>
          </a:p>
          <a:p>
            <a:pPr marL="0" indent="0">
              <a:buNone/>
            </a:pPr>
            <a:r>
              <a:rPr lang="en-IN" sz="1050" b="1" dirty="0"/>
              <a:t>Source &amp; Destination </a:t>
            </a:r>
          </a:p>
          <a:p>
            <a:pPr marL="0" indent="0">
              <a:buNone/>
            </a:pPr>
            <a:r>
              <a:rPr lang="en-IN" sz="1050" b="1" dirty="0"/>
              <a:t>Budget </a:t>
            </a:r>
          </a:p>
          <a:p>
            <a:pPr marL="0" indent="0">
              <a:buNone/>
            </a:pPr>
            <a:r>
              <a:rPr lang="en-IN" sz="1050" b="1" dirty="0"/>
              <a:t>Number of Days </a:t>
            </a:r>
          </a:p>
          <a:p>
            <a:pPr marL="0" indent="0">
              <a:buNone/>
            </a:pPr>
            <a:r>
              <a:rPr lang="en-IN" sz="1050" b="1" dirty="0"/>
              <a:t>Interests </a:t>
            </a:r>
          </a:p>
          <a:p>
            <a:pPr marL="0" indent="0">
              <a:buNone/>
            </a:pPr>
            <a:r>
              <a:rPr lang="en-IN" sz="1050" b="1" dirty="0"/>
              <a:t>Travel Mode </a:t>
            </a:r>
          </a:p>
          <a:p>
            <a:pPr marL="0" indent="0">
              <a:buNone/>
            </a:pPr>
            <a:r>
              <a:rPr lang="en-IN" sz="1050" b="1" dirty="0"/>
              <a:t>Accommodation Preference </a:t>
            </a:r>
          </a:p>
          <a:p>
            <a:pPr marL="0" indent="0">
              <a:buNone/>
            </a:pPr>
            <a:r>
              <a:rPr lang="en-IN" sz="1050" b="1" dirty="0"/>
              <a:t>Food Preference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60E491D1-9AB7-2455-B316-938A9D82DC33}"/>
              </a:ext>
            </a:extLst>
          </p:cNvPr>
          <p:cNvSpPr txBox="1"/>
          <p:nvPr/>
        </p:nvSpPr>
        <p:spPr>
          <a:xfrm>
            <a:off x="2725479" y="1316369"/>
            <a:ext cx="3370521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Clr>
                <a:schemeClr val="accent1"/>
              </a:buClr>
              <a:buFont typeface="Wingdings" pitchFamily="2" charset="2"/>
              <a:buChar char="§"/>
            </a:pPr>
            <a:r>
              <a:rPr lang="en-IN" b="1" dirty="0"/>
              <a:t>Step 2: Data Collection</a:t>
            </a:r>
          </a:p>
          <a:p>
            <a:r>
              <a:rPr lang="en-IN" sz="1400" dirty="0"/>
              <a:t>The system collects information from</a:t>
            </a:r>
          </a:p>
          <a:p>
            <a:r>
              <a:rPr lang="en-IN" sz="1400" dirty="0"/>
              <a:t>Google Maps API </a:t>
            </a:r>
          </a:p>
          <a:p>
            <a:r>
              <a:rPr lang="en-IN" sz="1400" dirty="0"/>
              <a:t>Google Places API </a:t>
            </a:r>
          </a:p>
          <a:p>
            <a:r>
              <a:rPr lang="en-IN" sz="1400" dirty="0"/>
              <a:t>Weather API </a:t>
            </a:r>
          </a:p>
          <a:p>
            <a:r>
              <a:rPr lang="en-IN" sz="1400" dirty="0"/>
              <a:t>Hotel/Hostel APIs </a:t>
            </a:r>
          </a:p>
          <a:p>
            <a:r>
              <a:rPr lang="en-IN" sz="1400" dirty="0"/>
              <a:t>Transport APIs</a:t>
            </a:r>
          </a:p>
          <a:p>
            <a:endParaRPr 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412E68E-5B28-FC56-C0C3-A6D491B15AF8}"/>
              </a:ext>
            </a:extLst>
          </p:cNvPr>
          <p:cNvSpPr txBox="1"/>
          <p:nvPr/>
        </p:nvSpPr>
        <p:spPr>
          <a:xfrm>
            <a:off x="5979042" y="1313049"/>
            <a:ext cx="2590800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Clr>
                <a:schemeClr val="accent1"/>
              </a:buClr>
              <a:buFont typeface="Wingdings" pitchFamily="2" charset="2"/>
              <a:buChar char="§"/>
            </a:pPr>
            <a:r>
              <a:rPr lang="en-IN" b="1" dirty="0"/>
              <a:t>Step 3: AI Processing</a:t>
            </a:r>
          </a:p>
          <a:p>
            <a:r>
              <a:rPr lang="en-IN" dirty="0"/>
              <a:t>The AI</a:t>
            </a:r>
          </a:p>
          <a:p>
            <a:r>
              <a:rPr lang="en-IN" dirty="0"/>
              <a:t>Understands user preferences </a:t>
            </a:r>
          </a:p>
          <a:p>
            <a:r>
              <a:rPr lang="en-IN" dirty="0"/>
              <a:t>Optimizes budget </a:t>
            </a:r>
          </a:p>
          <a:p>
            <a:r>
              <a:rPr lang="en-IN" dirty="0"/>
              <a:t>Selects attractions </a:t>
            </a:r>
          </a:p>
          <a:p>
            <a:r>
              <a:rPr lang="en-IN" dirty="0"/>
              <a:t>Plans daily activities </a:t>
            </a:r>
          </a:p>
          <a:p>
            <a:r>
              <a:rPr lang="en-IN" dirty="0"/>
              <a:t>Chooses best travel routes</a:t>
            </a:r>
          </a:p>
          <a:p>
            <a:endParaRPr 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C673065-9AEF-B65C-972C-F1B3F3110DDC}"/>
              </a:ext>
            </a:extLst>
          </p:cNvPr>
          <p:cNvSpPr txBox="1"/>
          <p:nvPr/>
        </p:nvSpPr>
        <p:spPr>
          <a:xfrm>
            <a:off x="8771861" y="1313049"/>
            <a:ext cx="3051544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Clr>
                <a:schemeClr val="accent1"/>
              </a:buClr>
              <a:buFont typeface="Wingdings" pitchFamily="2" charset="2"/>
              <a:buChar char="§"/>
            </a:pPr>
            <a:r>
              <a:rPr lang="en-IN" b="1" dirty="0"/>
              <a:t>Step 4: Itinerary Generation</a:t>
            </a:r>
          </a:p>
          <a:p>
            <a:r>
              <a:rPr lang="en-IN" dirty="0"/>
              <a:t>Creates</a:t>
            </a:r>
          </a:p>
          <a:p>
            <a:r>
              <a:rPr lang="en-IN" dirty="0"/>
              <a:t>Day-wise schedule </a:t>
            </a:r>
          </a:p>
          <a:p>
            <a:r>
              <a:rPr lang="en-IN" dirty="0"/>
              <a:t>Budget allocation </a:t>
            </a:r>
          </a:p>
          <a:p>
            <a:r>
              <a:rPr lang="en-IN" dirty="0"/>
              <a:t>Navigation routes </a:t>
            </a:r>
          </a:p>
          <a:p>
            <a:r>
              <a:rPr lang="en-IN" dirty="0"/>
              <a:t>Accommodation suggestions </a:t>
            </a:r>
          </a:p>
          <a:p>
            <a:r>
              <a:rPr lang="en-IN" dirty="0"/>
              <a:t>Restaurant recommendations</a:t>
            </a:r>
          </a:p>
          <a:p>
            <a:endParaRPr lang="en-US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808D5B2-6C4A-C8BD-F9B6-9E3DBE6191B5}"/>
              </a:ext>
            </a:extLst>
          </p:cNvPr>
          <p:cNvSpPr txBox="1"/>
          <p:nvPr/>
        </p:nvSpPr>
        <p:spPr>
          <a:xfrm>
            <a:off x="7602279" y="4529288"/>
            <a:ext cx="4922874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Clr>
                <a:schemeClr val="accent1"/>
              </a:buClr>
              <a:buFont typeface="Wingdings" pitchFamily="2" charset="2"/>
              <a:buChar char="§"/>
            </a:pPr>
            <a:r>
              <a:rPr lang="en-IN" b="1" dirty="0"/>
              <a:t>Step 5: Continuous Updates</a:t>
            </a:r>
          </a:p>
          <a:p>
            <a:r>
              <a:rPr lang="en-IN" dirty="0"/>
              <a:t>During the trip, AI updates recommendations based on</a:t>
            </a:r>
          </a:p>
          <a:p>
            <a:r>
              <a:rPr lang="en-IN" dirty="0"/>
              <a:t>Weather changes </a:t>
            </a:r>
          </a:p>
          <a:p>
            <a:r>
              <a:rPr lang="en-IN" dirty="0"/>
              <a:t>Traffic </a:t>
            </a:r>
          </a:p>
          <a:p>
            <a:r>
              <a:rPr lang="en-IN" dirty="0"/>
              <a:t>Budget usage </a:t>
            </a:r>
          </a:p>
          <a:p>
            <a:r>
              <a:rPr lang="en-IN" dirty="0"/>
              <a:t>User location</a:t>
            </a:r>
          </a:p>
        </p:txBody>
      </p:sp>
      <p:sp>
        <p:nvSpPr>
          <p:cNvPr id="8" name="Right Arrow 7">
            <a:extLst>
              <a:ext uri="{FF2B5EF4-FFF2-40B4-BE49-F238E27FC236}">
                <a16:creationId xmlns:a16="http://schemas.microsoft.com/office/drawing/2014/main" id="{08BB0F0D-068E-609C-8485-042FA8A04942}"/>
              </a:ext>
            </a:extLst>
          </p:cNvPr>
          <p:cNvSpPr/>
          <p:nvPr/>
        </p:nvSpPr>
        <p:spPr>
          <a:xfrm>
            <a:off x="2142460" y="2320857"/>
            <a:ext cx="393405" cy="410497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1" dirty="0"/>
          </a:p>
        </p:txBody>
      </p:sp>
      <p:sp>
        <p:nvSpPr>
          <p:cNvPr id="9" name="Right Arrow 8">
            <a:extLst>
              <a:ext uri="{FF2B5EF4-FFF2-40B4-BE49-F238E27FC236}">
                <a16:creationId xmlns:a16="http://schemas.microsoft.com/office/drawing/2014/main" id="{4C4E6054-A9F9-AE03-81E3-311DFECB180B}"/>
              </a:ext>
            </a:extLst>
          </p:cNvPr>
          <p:cNvSpPr/>
          <p:nvPr/>
        </p:nvSpPr>
        <p:spPr>
          <a:xfrm>
            <a:off x="5491716" y="2333713"/>
            <a:ext cx="393405" cy="410497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1" dirty="0"/>
          </a:p>
        </p:txBody>
      </p:sp>
      <p:sp>
        <p:nvSpPr>
          <p:cNvPr id="10" name="Right Arrow 9">
            <a:extLst>
              <a:ext uri="{FF2B5EF4-FFF2-40B4-BE49-F238E27FC236}">
                <a16:creationId xmlns:a16="http://schemas.microsoft.com/office/drawing/2014/main" id="{A219BC79-5B1C-93EB-56CA-23FC760AD06B}"/>
              </a:ext>
            </a:extLst>
          </p:cNvPr>
          <p:cNvSpPr/>
          <p:nvPr/>
        </p:nvSpPr>
        <p:spPr>
          <a:xfrm>
            <a:off x="8378456" y="2526105"/>
            <a:ext cx="393405" cy="410497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1" dirty="0"/>
          </a:p>
        </p:txBody>
      </p:sp>
      <p:sp>
        <p:nvSpPr>
          <p:cNvPr id="11" name="Down Arrow 10">
            <a:extLst>
              <a:ext uri="{FF2B5EF4-FFF2-40B4-BE49-F238E27FC236}">
                <a16:creationId xmlns:a16="http://schemas.microsoft.com/office/drawing/2014/main" id="{44612067-2B2B-F5D0-4D3E-F60B04A703FB}"/>
              </a:ext>
            </a:extLst>
          </p:cNvPr>
          <p:cNvSpPr/>
          <p:nvPr/>
        </p:nvSpPr>
        <p:spPr>
          <a:xfrm>
            <a:off x="9420447" y="3955312"/>
            <a:ext cx="350874" cy="542260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0202452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8FBA75B4-2DD5-42EB-9397-F36BFB8BA7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sz="4400" b="1">
                <a:solidFill>
                  <a:schemeClr val="accent1"/>
                </a:solidFill>
                <a:latin typeface="Arial"/>
                <a:ea typeface="+mj-lt"/>
                <a:cs typeface="Arial"/>
              </a:rPr>
              <a:t>Algorithm &amp; Deployment</a:t>
            </a:r>
            <a:endParaRPr lang="en-US"/>
          </a:p>
        </p:txBody>
      </p:sp>
      <p:sp>
        <p:nvSpPr>
          <p:cNvPr id="3" name="Rectangle 1">
            <a:extLst>
              <a:ext uri="{FF2B5EF4-FFF2-40B4-BE49-F238E27FC236}">
                <a16:creationId xmlns:a16="http://schemas.microsoft.com/office/drawing/2014/main" id="{36B1088C-89EA-3F94-B807-2B09819E8AD8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581192" y="1102578"/>
            <a:ext cx="3235896" cy="575542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lvl="0" indent="0" defTabSz="91440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r>
              <a:rPr lang="en-US" altLang="en-US" sz="800" b="1" dirty="0">
                <a:solidFill>
                  <a:schemeClr val="tx1"/>
                </a:solidFill>
                <a:latin typeface="Arial" panose="020B0604020202020204" pitchFamily="34" charset="0"/>
              </a:rPr>
              <a:t>Start</a:t>
            </a:r>
          </a:p>
          <a:p>
            <a:pPr marL="0" lvl="0" indent="0" defTabSz="91440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endParaRPr lang="en-US" altLang="en-US" sz="800" b="1" dirty="0">
              <a:solidFill>
                <a:schemeClr val="tx1"/>
              </a:solidFill>
              <a:latin typeface="Arial" panose="020B0604020202020204" pitchFamily="34" charset="0"/>
            </a:endParaRPr>
          </a:p>
          <a:p>
            <a:pPr marL="0" lvl="0" indent="0" defTabSz="91440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r>
              <a:rPr lang="en-US" altLang="en-US" sz="800" b="1" dirty="0">
                <a:solidFill>
                  <a:schemeClr val="tx1"/>
                </a:solidFill>
                <a:latin typeface="Arial" panose="020B0604020202020204" pitchFamily="34" charset="0"/>
              </a:rPr>
              <a:t>↓</a:t>
            </a:r>
          </a:p>
          <a:p>
            <a:pPr marL="0" lvl="0" indent="0" defTabSz="91440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endParaRPr lang="en-US" altLang="en-US" sz="800" b="1" dirty="0">
              <a:solidFill>
                <a:schemeClr val="tx1"/>
              </a:solidFill>
              <a:latin typeface="Arial" panose="020B0604020202020204" pitchFamily="34" charset="0"/>
            </a:endParaRPr>
          </a:p>
          <a:p>
            <a:pPr marL="0" lvl="0" indent="0" defTabSz="91440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r>
              <a:rPr lang="en-US" altLang="en-US" sz="800" b="1" dirty="0">
                <a:solidFill>
                  <a:schemeClr val="tx1"/>
                </a:solidFill>
                <a:latin typeface="Arial" panose="020B0604020202020204" pitchFamily="34" charset="0"/>
              </a:rPr>
              <a:t>Take User Preferences</a:t>
            </a:r>
          </a:p>
          <a:p>
            <a:pPr marL="0" lvl="0" indent="0" defTabSz="91440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endParaRPr lang="en-US" altLang="en-US" sz="800" b="1" dirty="0">
              <a:solidFill>
                <a:schemeClr val="tx1"/>
              </a:solidFill>
              <a:latin typeface="Arial" panose="020B0604020202020204" pitchFamily="34" charset="0"/>
            </a:endParaRPr>
          </a:p>
          <a:p>
            <a:pPr marL="0" lvl="0" indent="0" defTabSz="91440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r>
              <a:rPr lang="en-US" altLang="en-US" sz="800" b="1" dirty="0">
                <a:solidFill>
                  <a:schemeClr val="tx1"/>
                </a:solidFill>
                <a:latin typeface="Arial" panose="020B0604020202020204" pitchFamily="34" charset="0"/>
              </a:rPr>
              <a:t>↓</a:t>
            </a:r>
          </a:p>
          <a:p>
            <a:pPr marL="0" lvl="0" indent="0" defTabSz="91440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endParaRPr lang="en-US" altLang="en-US" sz="800" b="1" dirty="0">
              <a:solidFill>
                <a:schemeClr val="tx1"/>
              </a:solidFill>
              <a:latin typeface="Arial" panose="020B0604020202020204" pitchFamily="34" charset="0"/>
            </a:endParaRPr>
          </a:p>
          <a:p>
            <a:pPr marL="0" lvl="0" indent="0" defTabSz="91440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r>
              <a:rPr lang="en-US" altLang="en-US" sz="800" b="1" dirty="0">
                <a:solidFill>
                  <a:schemeClr val="tx1"/>
                </a:solidFill>
                <a:latin typeface="Arial" panose="020B0604020202020204" pitchFamily="34" charset="0"/>
              </a:rPr>
              <a:t>Collect Travel Data</a:t>
            </a:r>
          </a:p>
          <a:p>
            <a:pPr marL="0" lvl="0" indent="0" defTabSz="91440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endParaRPr lang="en-US" altLang="en-US" sz="800" b="1" dirty="0">
              <a:solidFill>
                <a:schemeClr val="tx1"/>
              </a:solidFill>
              <a:latin typeface="Arial" panose="020B0604020202020204" pitchFamily="34" charset="0"/>
            </a:endParaRPr>
          </a:p>
          <a:p>
            <a:pPr marL="0" lvl="0" indent="0" defTabSz="91440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r>
              <a:rPr lang="en-US" altLang="en-US" sz="800" b="1" dirty="0">
                <a:solidFill>
                  <a:schemeClr val="tx1"/>
                </a:solidFill>
                <a:latin typeface="Arial" panose="020B0604020202020204" pitchFamily="34" charset="0"/>
              </a:rPr>
              <a:t>↓</a:t>
            </a:r>
          </a:p>
          <a:p>
            <a:pPr marL="0" lvl="0" indent="0" defTabSz="91440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endParaRPr lang="en-US" altLang="en-US" sz="800" b="1" dirty="0">
              <a:solidFill>
                <a:schemeClr val="tx1"/>
              </a:solidFill>
              <a:latin typeface="Arial" panose="020B0604020202020204" pitchFamily="34" charset="0"/>
            </a:endParaRPr>
          </a:p>
          <a:p>
            <a:pPr marL="0" lvl="0" indent="0" defTabSz="91440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r>
              <a:rPr lang="en-US" altLang="en-US" sz="800" b="1" dirty="0">
                <a:solidFill>
                  <a:schemeClr val="tx1"/>
                </a:solidFill>
                <a:latin typeface="Arial" panose="020B0604020202020204" pitchFamily="34" charset="0"/>
              </a:rPr>
              <a:t>Analyze Budget</a:t>
            </a:r>
          </a:p>
          <a:p>
            <a:pPr marL="0" lvl="0" indent="0" defTabSz="91440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endParaRPr lang="en-US" altLang="en-US" sz="800" b="1" dirty="0">
              <a:solidFill>
                <a:schemeClr val="tx1"/>
              </a:solidFill>
              <a:latin typeface="Arial" panose="020B0604020202020204" pitchFamily="34" charset="0"/>
            </a:endParaRPr>
          </a:p>
          <a:p>
            <a:pPr marL="0" lvl="0" indent="0" defTabSz="91440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r>
              <a:rPr lang="en-US" altLang="en-US" sz="800" b="1" dirty="0">
                <a:solidFill>
                  <a:schemeClr val="tx1"/>
                </a:solidFill>
                <a:latin typeface="Arial" panose="020B0604020202020204" pitchFamily="34" charset="0"/>
              </a:rPr>
              <a:t>↓</a:t>
            </a:r>
          </a:p>
          <a:p>
            <a:pPr marL="0" lvl="0" indent="0" defTabSz="91440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endParaRPr lang="en-US" altLang="en-US" sz="800" b="1" dirty="0">
              <a:solidFill>
                <a:schemeClr val="tx1"/>
              </a:solidFill>
              <a:latin typeface="Arial" panose="020B0604020202020204" pitchFamily="34" charset="0"/>
            </a:endParaRPr>
          </a:p>
          <a:p>
            <a:pPr marL="0" lvl="0" indent="0" defTabSz="91440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r>
              <a:rPr lang="en-US" altLang="en-US" sz="800" b="1" dirty="0">
                <a:solidFill>
                  <a:schemeClr val="tx1"/>
                </a:solidFill>
                <a:latin typeface="Arial" panose="020B0604020202020204" pitchFamily="34" charset="0"/>
              </a:rPr>
              <a:t>Recommend Best Transport</a:t>
            </a:r>
          </a:p>
          <a:p>
            <a:pPr marL="0" lvl="0" indent="0" defTabSz="91440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endParaRPr lang="en-US" altLang="en-US" sz="800" b="1" dirty="0">
              <a:solidFill>
                <a:schemeClr val="tx1"/>
              </a:solidFill>
              <a:latin typeface="Arial" panose="020B0604020202020204" pitchFamily="34" charset="0"/>
            </a:endParaRPr>
          </a:p>
          <a:p>
            <a:pPr marL="0" lvl="0" indent="0" defTabSz="91440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r>
              <a:rPr lang="en-US" altLang="en-US" sz="800" b="1" dirty="0">
                <a:solidFill>
                  <a:schemeClr val="tx1"/>
                </a:solidFill>
                <a:latin typeface="Arial" panose="020B0604020202020204" pitchFamily="34" charset="0"/>
              </a:rPr>
              <a:t>↓</a:t>
            </a:r>
          </a:p>
          <a:p>
            <a:pPr marL="0" lvl="0" indent="0" defTabSz="91440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endParaRPr lang="en-US" altLang="en-US" sz="800" b="1" dirty="0">
              <a:solidFill>
                <a:schemeClr val="tx1"/>
              </a:solidFill>
              <a:latin typeface="Arial" panose="020B0604020202020204" pitchFamily="34" charset="0"/>
            </a:endParaRPr>
          </a:p>
          <a:p>
            <a:pPr marL="0" lvl="0" indent="0" defTabSz="91440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r>
              <a:rPr lang="en-US" altLang="en-US" sz="800" b="1" dirty="0">
                <a:solidFill>
                  <a:schemeClr val="tx1"/>
                </a:solidFill>
                <a:latin typeface="Arial" panose="020B0604020202020204" pitchFamily="34" charset="0"/>
              </a:rPr>
              <a:t>Recommend Accommodation</a:t>
            </a:r>
          </a:p>
          <a:p>
            <a:pPr marL="0" lvl="0" indent="0" defTabSz="91440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endParaRPr lang="en-US" altLang="en-US" sz="800" b="1" dirty="0">
              <a:solidFill>
                <a:schemeClr val="tx1"/>
              </a:solidFill>
              <a:latin typeface="Arial" panose="020B0604020202020204" pitchFamily="34" charset="0"/>
            </a:endParaRPr>
          </a:p>
          <a:p>
            <a:pPr marL="0" lvl="0" indent="0" defTabSz="91440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r>
              <a:rPr lang="en-US" altLang="en-US" sz="800" b="1" dirty="0">
                <a:solidFill>
                  <a:schemeClr val="tx1"/>
                </a:solidFill>
                <a:latin typeface="Arial" panose="020B0604020202020204" pitchFamily="34" charset="0"/>
              </a:rPr>
              <a:t>↓</a:t>
            </a:r>
          </a:p>
          <a:p>
            <a:pPr marL="0" lvl="0" indent="0" defTabSz="91440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endParaRPr lang="en-US" altLang="en-US" sz="800" b="1" dirty="0">
              <a:solidFill>
                <a:schemeClr val="tx1"/>
              </a:solidFill>
              <a:latin typeface="Arial" panose="020B0604020202020204" pitchFamily="34" charset="0"/>
            </a:endParaRPr>
          </a:p>
          <a:p>
            <a:pPr marL="0" lvl="0" indent="0" defTabSz="91440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r>
              <a:rPr lang="en-US" altLang="en-US" sz="800" b="1" dirty="0">
                <a:solidFill>
                  <a:schemeClr val="tx1"/>
                </a:solidFill>
                <a:latin typeface="Arial" panose="020B0604020202020204" pitchFamily="34" charset="0"/>
              </a:rPr>
              <a:t>Find Nearby Attractions</a:t>
            </a:r>
          </a:p>
          <a:p>
            <a:pPr marL="0" lvl="0" indent="0" defTabSz="91440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endParaRPr lang="en-US" altLang="en-US" sz="800" b="1" dirty="0">
              <a:solidFill>
                <a:schemeClr val="tx1"/>
              </a:solidFill>
              <a:latin typeface="Arial" panose="020B0604020202020204" pitchFamily="34" charset="0"/>
            </a:endParaRPr>
          </a:p>
          <a:p>
            <a:pPr marL="0" lvl="0" indent="0" defTabSz="91440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r>
              <a:rPr lang="en-US" altLang="en-US" sz="800" b="1" dirty="0">
                <a:solidFill>
                  <a:schemeClr val="tx1"/>
                </a:solidFill>
                <a:latin typeface="Arial" panose="020B0604020202020204" pitchFamily="34" charset="0"/>
              </a:rPr>
              <a:t>↓</a:t>
            </a:r>
          </a:p>
          <a:p>
            <a:pPr marL="0" lvl="0" indent="0" defTabSz="91440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endParaRPr lang="en-US" altLang="en-US" sz="800" b="1" dirty="0">
              <a:solidFill>
                <a:schemeClr val="tx1"/>
              </a:solidFill>
              <a:latin typeface="Arial" panose="020B0604020202020204" pitchFamily="34" charset="0"/>
            </a:endParaRPr>
          </a:p>
          <a:p>
            <a:pPr marL="0" lvl="0" indent="0" defTabSz="91440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r>
              <a:rPr lang="en-US" altLang="en-US" sz="800" b="1" dirty="0">
                <a:solidFill>
                  <a:schemeClr val="tx1"/>
                </a:solidFill>
                <a:latin typeface="Arial" panose="020B0604020202020204" pitchFamily="34" charset="0"/>
              </a:rPr>
              <a:t>Optimize Route using Google Maps</a:t>
            </a:r>
          </a:p>
          <a:p>
            <a:pPr marL="0" lvl="0" indent="0" defTabSz="91440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endParaRPr lang="en-US" altLang="en-US" sz="800" b="1" dirty="0">
              <a:solidFill>
                <a:schemeClr val="tx1"/>
              </a:solidFill>
              <a:latin typeface="Arial" panose="020B0604020202020204" pitchFamily="34" charset="0"/>
            </a:endParaRPr>
          </a:p>
          <a:p>
            <a:pPr marL="0" lvl="0" indent="0" defTabSz="91440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r>
              <a:rPr lang="en-US" altLang="en-US" sz="800" b="1" dirty="0">
                <a:solidFill>
                  <a:schemeClr val="tx1"/>
                </a:solidFill>
                <a:latin typeface="Arial" panose="020B0604020202020204" pitchFamily="34" charset="0"/>
              </a:rPr>
              <a:t>↓</a:t>
            </a:r>
          </a:p>
          <a:p>
            <a:pPr marL="0" lvl="0" indent="0" defTabSz="91440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endParaRPr lang="en-US" altLang="en-US" sz="800" b="1" dirty="0">
              <a:solidFill>
                <a:schemeClr val="tx1"/>
              </a:solidFill>
              <a:latin typeface="Arial" panose="020B0604020202020204" pitchFamily="34" charset="0"/>
            </a:endParaRPr>
          </a:p>
          <a:p>
            <a:pPr marL="0" lvl="0" indent="0" defTabSz="91440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r>
              <a:rPr lang="en-US" altLang="en-US" sz="800" b="1" dirty="0">
                <a:solidFill>
                  <a:schemeClr val="tx1"/>
                </a:solidFill>
                <a:latin typeface="Arial" panose="020B0604020202020204" pitchFamily="34" charset="0"/>
              </a:rPr>
              <a:t>Generate AI Itinerary</a:t>
            </a:r>
          </a:p>
          <a:p>
            <a:pPr marL="0" lvl="0" indent="0" defTabSz="91440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endParaRPr lang="en-US" altLang="en-US" sz="800" b="1" dirty="0">
              <a:solidFill>
                <a:schemeClr val="tx1"/>
              </a:solidFill>
              <a:latin typeface="Arial" panose="020B0604020202020204" pitchFamily="34" charset="0"/>
            </a:endParaRPr>
          </a:p>
          <a:p>
            <a:pPr marL="0" lvl="0" indent="0" defTabSz="91440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r>
              <a:rPr lang="en-US" altLang="en-US" sz="800" b="1" dirty="0">
                <a:solidFill>
                  <a:schemeClr val="tx1"/>
                </a:solidFill>
                <a:latin typeface="Arial" panose="020B0604020202020204" pitchFamily="34" charset="0"/>
              </a:rPr>
              <a:t>↓</a:t>
            </a:r>
          </a:p>
          <a:p>
            <a:pPr marL="0" lvl="0" indent="0" defTabSz="91440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endParaRPr lang="en-US" altLang="en-US" sz="800" b="1" dirty="0">
              <a:solidFill>
                <a:schemeClr val="tx1"/>
              </a:solidFill>
              <a:latin typeface="Arial" panose="020B0604020202020204" pitchFamily="34" charset="0"/>
            </a:endParaRPr>
          </a:p>
          <a:p>
            <a:pPr marL="0" lvl="0" indent="0" defTabSz="91440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r>
              <a:rPr lang="en-US" altLang="en-US" sz="800" b="1" dirty="0">
                <a:solidFill>
                  <a:schemeClr val="tx1"/>
                </a:solidFill>
                <a:latin typeface="Arial" panose="020B0604020202020204" pitchFamily="34" charset="0"/>
              </a:rPr>
              <a:t>Estimate Total Cost</a:t>
            </a:r>
          </a:p>
          <a:p>
            <a:pPr marL="0" lvl="0" indent="0" defTabSz="91440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endParaRPr lang="en-US" altLang="en-US" sz="800" b="1" dirty="0">
              <a:solidFill>
                <a:schemeClr val="tx1"/>
              </a:solidFill>
              <a:latin typeface="Arial" panose="020B0604020202020204" pitchFamily="34" charset="0"/>
            </a:endParaRPr>
          </a:p>
          <a:p>
            <a:pPr marL="0" lvl="0" indent="0" defTabSz="91440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r>
              <a:rPr lang="en-US" altLang="en-US" sz="800" b="1" dirty="0">
                <a:solidFill>
                  <a:schemeClr val="tx1"/>
                </a:solidFill>
                <a:latin typeface="Arial" panose="020B0604020202020204" pitchFamily="34" charset="0"/>
              </a:rPr>
              <a:t>↓</a:t>
            </a:r>
          </a:p>
          <a:p>
            <a:pPr marL="0" lvl="0" indent="0" defTabSz="91440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endParaRPr lang="en-US" altLang="en-US" sz="800" b="1" dirty="0">
              <a:solidFill>
                <a:schemeClr val="tx1"/>
              </a:solidFill>
              <a:latin typeface="Arial" panose="020B0604020202020204" pitchFamily="34" charset="0"/>
            </a:endParaRPr>
          </a:p>
          <a:p>
            <a:pPr marL="0" lvl="0" indent="0" defTabSz="91440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r>
              <a:rPr lang="en-US" altLang="en-US" sz="800" b="1" dirty="0">
                <a:solidFill>
                  <a:schemeClr val="tx1"/>
                </a:solidFill>
                <a:latin typeface="Arial" panose="020B0604020202020204" pitchFamily="34" charset="0"/>
              </a:rPr>
              <a:t>Display Personalized Travel Plan</a:t>
            </a:r>
          </a:p>
          <a:p>
            <a:pPr marL="0" lvl="0" indent="0" defTabSz="91440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endParaRPr lang="en-US" altLang="en-US" sz="800" b="1" dirty="0">
              <a:solidFill>
                <a:schemeClr val="tx1"/>
              </a:solidFill>
              <a:latin typeface="Arial" panose="020B0604020202020204" pitchFamily="34" charset="0"/>
            </a:endParaRPr>
          </a:p>
          <a:p>
            <a:pPr marL="0" lvl="0" indent="0" defTabSz="91440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r>
              <a:rPr lang="en-US" altLang="en-US" sz="800" b="1" dirty="0">
                <a:solidFill>
                  <a:schemeClr val="tx1"/>
                </a:solidFill>
                <a:latin typeface="Arial" panose="020B0604020202020204" pitchFamily="34" charset="0"/>
              </a:rPr>
              <a:t>↓</a:t>
            </a:r>
          </a:p>
          <a:p>
            <a:pPr marL="0" lvl="0" indent="0" defTabSz="91440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endParaRPr lang="en-US" altLang="en-US" sz="800" b="1" dirty="0">
              <a:solidFill>
                <a:schemeClr val="tx1"/>
              </a:solidFill>
              <a:latin typeface="Arial" panose="020B0604020202020204" pitchFamily="34" charset="0"/>
            </a:endParaRPr>
          </a:p>
          <a:p>
            <a:pPr marL="0" lvl="0" indent="0" defTabSz="91440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r>
              <a:rPr lang="en-US" altLang="en-US" sz="800" b="1" dirty="0">
                <a:solidFill>
                  <a:schemeClr val="tx1"/>
                </a:solidFill>
                <a:latin typeface="Arial" panose="020B0604020202020204" pitchFamily="34" charset="0"/>
              </a:rPr>
              <a:t>End</a:t>
            </a:r>
            <a:endParaRPr kumimoji="0" lang="en-US" altLang="en-US" sz="8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5450877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8FBA75B4-2DD5-42EB-9397-F36BFB8BA7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sz="4400" b="1">
                <a:solidFill>
                  <a:schemeClr val="accent1"/>
                </a:solidFill>
                <a:latin typeface="Arial"/>
                <a:ea typeface="+mj-lt"/>
                <a:cs typeface="Arial"/>
              </a:rPr>
              <a:t>Result</a:t>
            </a:r>
            <a:endParaRPr lang="en-US"/>
          </a:p>
        </p:txBody>
      </p:sp>
      <p:sp>
        <p:nvSpPr>
          <p:cNvPr id="3" name="Rectangle 1">
            <a:extLst>
              <a:ext uri="{FF2B5EF4-FFF2-40B4-BE49-F238E27FC236}">
                <a16:creationId xmlns:a16="http://schemas.microsoft.com/office/drawing/2014/main" id="{EACDFCCA-3998-2A0E-AE71-80AFE8A15F7F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209053" y="1508591"/>
            <a:ext cx="4710475" cy="462639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r>
              <a:rPr lang="en-IN" sz="1600" b="1" dirty="0"/>
              <a:t>Expected Outcomes</a:t>
            </a:r>
          </a:p>
          <a:p>
            <a:r>
              <a:rPr lang="en-IN" sz="1600" dirty="0"/>
              <a:t>Personalized travel itinerary generated within seconds. </a:t>
            </a:r>
          </a:p>
          <a:p>
            <a:r>
              <a:rPr lang="en-IN" sz="1600" dirty="0"/>
              <a:t>Budget optimization reducing trip costs by approximately 20–40%. </a:t>
            </a:r>
          </a:p>
          <a:p>
            <a:r>
              <a:rPr lang="en-IN" sz="1600" dirty="0"/>
              <a:t>Smart route planning minimizes travel time. </a:t>
            </a:r>
          </a:p>
          <a:p>
            <a:r>
              <a:rPr lang="en-IN" sz="1600" dirty="0"/>
              <a:t>Real-time weather-based itinerary updates. </a:t>
            </a:r>
          </a:p>
          <a:p>
            <a:r>
              <a:rPr lang="en-IN" sz="1600" dirty="0"/>
              <a:t>Accurate expense tracking throughout the trip. </a:t>
            </a:r>
          </a:p>
          <a:p>
            <a:r>
              <a:rPr lang="en-IN" sz="1600" dirty="0"/>
              <a:t>Student-specific recommendations for hostels, affordable food, and public transport. </a:t>
            </a:r>
          </a:p>
          <a:p>
            <a:r>
              <a:rPr lang="en-IN" sz="1600" dirty="0"/>
              <a:t>Improved travel safety with emergency alerts and nearby service recommendations.</a:t>
            </a:r>
          </a:p>
          <a:p>
            <a:pPr marL="0" marR="0" lvl="0" indent="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8329338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8FBA75B4-2DD5-42EB-9397-F36BFB8BA7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sz="4400" b="1">
                <a:solidFill>
                  <a:schemeClr val="accent1"/>
                </a:solidFill>
                <a:latin typeface="Arial"/>
                <a:ea typeface="+mj-lt"/>
                <a:cs typeface="Arial"/>
              </a:rPr>
              <a:t>Conclusion</a:t>
            </a:r>
            <a:endParaRPr lang="en-US"/>
          </a:p>
        </p:txBody>
      </p:sp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005E46AB-32C4-4B57-A2B1-50738A64BE1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1192" y="1232452"/>
            <a:ext cx="10721217" cy="4933507"/>
          </a:xfrm>
        </p:spPr>
        <p:txBody>
          <a:bodyPr>
            <a:normAutofit/>
          </a:bodyPr>
          <a:lstStyle/>
          <a:p>
            <a:r>
              <a:rPr lang="en-IN" sz="2000" dirty="0"/>
              <a:t>The proposed AI Travel Planner provides an intelligent and affordable solution for students by combining Artificial Intelligence, Google Maps, real-time travel information, and budget optimization.</a:t>
            </a:r>
          </a:p>
          <a:p>
            <a:r>
              <a:rPr lang="en-IN" sz="2000" dirty="0"/>
              <a:t>Unlike conventional travel applications, it creates fully personalized travel plans based on user preferences while minimizing costs and maximizing travel experiences.</a:t>
            </a:r>
          </a:p>
          <a:p>
            <a:r>
              <a:rPr lang="en-IN" sz="2000" dirty="0"/>
              <a:t>The platform enables students to plan trips faster, travel safely, stay within budget, and discover destinations more efficiently.</a:t>
            </a:r>
          </a:p>
          <a:p>
            <a:pPr marL="0" indent="0">
              <a:buNone/>
            </a:pPr>
            <a:br>
              <a:rPr lang="en-IN" sz="2000" dirty="0"/>
            </a:br>
            <a:endParaRPr lang="en-IN" sz="2000" dirty="0"/>
          </a:p>
          <a:p>
            <a:pPr marL="0" indent="0">
              <a:buNone/>
            </a:pPr>
            <a:endParaRPr lang="en-IN" sz="2000" dirty="0"/>
          </a:p>
        </p:txBody>
      </p:sp>
    </p:spTree>
    <p:extLst>
      <p:ext uri="{BB962C8B-B14F-4D97-AF65-F5344CB8AC3E}">
        <p14:creationId xmlns:p14="http://schemas.microsoft.com/office/powerpoint/2010/main" val="318331512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3F968F13-9AC4-7120-7ACD-9F752C767D5D}"/>
              </a:ext>
            </a:extLst>
          </p:cNvPr>
          <p:cNvSpPr txBox="1">
            <a:spLocks/>
          </p:cNvSpPr>
          <p:nvPr/>
        </p:nvSpPr>
        <p:spPr>
          <a:xfrm>
            <a:off x="535670" y="844659"/>
            <a:ext cx="11029616" cy="530296"/>
          </a:xfrm>
          <a:prstGeom prst="rect">
            <a:avLst/>
          </a:prstGeom>
        </p:spPr>
        <p:txBody>
          <a:bodyPr vert="horz" lIns="91440" tIns="45720" rIns="91440" bIns="45720" rtlCol="0" anchor="b">
            <a:normAutofit fontScale="75000" lnSpcReduction="20000"/>
          </a:bodyPr>
          <a:lstStyle>
            <a:lvl1pPr algn="l" defTabSz="4572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sz="2800" b="0" kern="1200" cap="all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en-US" sz="4400" b="1" dirty="0">
                <a:solidFill>
                  <a:schemeClr val="accent1"/>
                </a:solidFill>
                <a:latin typeface="Arial"/>
                <a:cs typeface="Arial"/>
              </a:rPr>
              <a:t>Future scope</a:t>
            </a:r>
          </a:p>
        </p:txBody>
      </p:sp>
      <p:sp>
        <p:nvSpPr>
          <p:cNvPr id="7" name="Rectangle 3">
            <a:extLst>
              <a:ext uri="{FF2B5EF4-FFF2-40B4-BE49-F238E27FC236}">
                <a16:creationId xmlns:a16="http://schemas.microsoft.com/office/drawing/2014/main" id="{BBCE0E30-F38C-D82A-6AE5-ECF63EAB5E53}"/>
              </a:ext>
            </a:extLst>
          </p:cNvPr>
          <p:cNvSpPr>
            <a:spLocks noChangeArrowheads="1"/>
          </p:cNvSpPr>
          <p:nvPr/>
        </p:nvSpPr>
        <p:spPr bwMode="auto">
          <a:xfrm>
            <a:off x="438691" y="1488933"/>
            <a:ext cx="5113708" cy="258532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285750" indent="-285750">
              <a:buClr>
                <a:schemeClr val="accent1"/>
              </a:buClr>
              <a:buFont typeface="Wingdings" pitchFamily="2" charset="2"/>
              <a:buChar char="§"/>
            </a:pPr>
            <a:endParaRPr lang="en-IN" b="1" dirty="0"/>
          </a:p>
          <a:p>
            <a:pPr marL="285750" indent="-285750">
              <a:buClr>
                <a:schemeClr val="accent1"/>
              </a:buClr>
              <a:buFont typeface="Wingdings" pitchFamily="2" charset="2"/>
              <a:buChar char="§"/>
            </a:pPr>
            <a:r>
              <a:rPr lang="en-IN" dirty="0"/>
              <a:t>Voice-based AI travel assistant. </a:t>
            </a:r>
          </a:p>
          <a:p>
            <a:pPr marL="285750" indent="-285750">
              <a:buClr>
                <a:schemeClr val="accent1"/>
              </a:buClr>
              <a:buFont typeface="Wingdings" pitchFamily="2" charset="2"/>
              <a:buChar char="§"/>
            </a:pPr>
            <a:r>
              <a:rPr lang="en-IN" dirty="0"/>
              <a:t>AR-based navigation. </a:t>
            </a:r>
          </a:p>
          <a:p>
            <a:pPr marL="285750" indent="-285750">
              <a:buClr>
                <a:schemeClr val="accent1"/>
              </a:buClr>
              <a:buFont typeface="Wingdings" pitchFamily="2" charset="2"/>
              <a:buChar char="§"/>
            </a:pPr>
            <a:r>
              <a:rPr lang="en-IN" dirty="0"/>
              <a:t>AI-generated travel journal. </a:t>
            </a:r>
          </a:p>
          <a:p>
            <a:pPr marL="285750" indent="-285750">
              <a:buClr>
                <a:schemeClr val="accent1"/>
              </a:buClr>
              <a:buFont typeface="Wingdings" pitchFamily="2" charset="2"/>
              <a:buChar char="§"/>
            </a:pPr>
            <a:r>
              <a:rPr lang="en-IN" dirty="0"/>
              <a:t>Carbon footprint tracking. </a:t>
            </a:r>
          </a:p>
          <a:p>
            <a:pPr marL="285750" indent="-285750">
              <a:buClr>
                <a:schemeClr val="accent1"/>
              </a:buClr>
              <a:buFont typeface="Wingdings" pitchFamily="2" charset="2"/>
              <a:buChar char="§"/>
            </a:pPr>
            <a:r>
              <a:rPr lang="en-IN" dirty="0"/>
              <a:t>Integration with student discount cards. </a:t>
            </a:r>
          </a:p>
          <a:p>
            <a:pPr marL="285750" indent="-285750">
              <a:buClr>
                <a:schemeClr val="accent1"/>
              </a:buClr>
              <a:buFont typeface="Wingdings" pitchFamily="2" charset="2"/>
              <a:buChar char="§"/>
            </a:pPr>
            <a:r>
              <a:rPr lang="en-IN" dirty="0"/>
              <a:t>Offline itinerary and maps. </a:t>
            </a:r>
          </a:p>
          <a:p>
            <a:pPr marL="285750" indent="-285750">
              <a:buClr>
                <a:schemeClr val="accent1"/>
              </a:buClr>
              <a:buFont typeface="Wingdings" pitchFamily="2" charset="2"/>
              <a:buChar char="§"/>
            </a:pPr>
            <a:r>
              <a:rPr lang="en-IN" dirty="0"/>
              <a:t>Multi-user collaborative trip planning. </a:t>
            </a:r>
          </a:p>
          <a:p>
            <a:pPr marL="285750" indent="-285750">
              <a:buClr>
                <a:schemeClr val="accent1"/>
              </a:buClr>
              <a:buFont typeface="Wingdings" pitchFamily="2" charset="2"/>
              <a:buChar char="§"/>
            </a:pPr>
            <a:r>
              <a:rPr lang="en-IN" dirty="0"/>
              <a:t>Predictive crowd analysis for tourist attractions. </a:t>
            </a:r>
          </a:p>
        </p:txBody>
      </p:sp>
    </p:spTree>
    <p:extLst>
      <p:ext uri="{BB962C8B-B14F-4D97-AF65-F5344CB8AC3E}">
        <p14:creationId xmlns:p14="http://schemas.microsoft.com/office/powerpoint/2010/main" val="61488268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8FBA75B4-2DD5-42EB-9397-F36BFB8BA7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sz="4400" b="1">
                <a:solidFill>
                  <a:schemeClr val="accent1"/>
                </a:solidFill>
                <a:latin typeface="Arial"/>
                <a:ea typeface="+mj-lt"/>
                <a:cs typeface="Arial"/>
              </a:rPr>
              <a:t>References</a:t>
            </a:r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39C82B0-CBA2-0FD2-0400-979E31AC4978}"/>
              </a:ext>
            </a:extLst>
          </p:cNvPr>
          <p:cNvSpPr txBox="1"/>
          <p:nvPr/>
        </p:nvSpPr>
        <p:spPr>
          <a:xfrm>
            <a:off x="668866" y="1525601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hlinkClick r:id="rId2"/>
              </a:rPr>
              <a:t>Hugging Face – The AI community building the future.</a:t>
            </a:r>
            <a:endParaRPr lang="en-IN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868E3FB-22A7-E0B8-4581-182B6AF5A531}"/>
              </a:ext>
            </a:extLst>
          </p:cNvPr>
          <p:cNvSpPr txBox="1"/>
          <p:nvPr/>
        </p:nvSpPr>
        <p:spPr>
          <a:xfrm>
            <a:off x="668866" y="2118267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 err="1">
                <a:hlinkClick r:id="rId3"/>
              </a:rPr>
              <a:t>Streamlit</a:t>
            </a:r>
            <a:r>
              <a:rPr lang="en-US" dirty="0">
                <a:hlinkClick r:id="rId3"/>
              </a:rPr>
              <a:t> • A faster way to build and share data apps</a:t>
            </a:r>
            <a:endParaRPr lang="en-IN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A0AED30D-1BDE-D15E-24BF-CDF91FB17E3B}"/>
              </a:ext>
            </a:extLst>
          </p:cNvPr>
          <p:cNvSpPr txBox="1"/>
          <p:nvPr/>
        </p:nvSpPr>
        <p:spPr>
          <a:xfrm>
            <a:off x="668866" y="2710933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>
                <a:hlinkClick r:id="rId4"/>
              </a:rPr>
              <a:t>Welcome to Python.org</a:t>
            </a:r>
            <a:endParaRPr lang="en-IN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60239F6C-608D-FFC0-AE73-B5FE2296234F}"/>
              </a:ext>
            </a:extLst>
          </p:cNvPr>
          <p:cNvSpPr txBox="1"/>
          <p:nvPr/>
        </p:nvSpPr>
        <p:spPr>
          <a:xfrm>
            <a:off x="668866" y="3303599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hlinkClick r:id="rId5"/>
              </a:rPr>
              <a:t>1. Supervised learning — scikit-learn 1.8.0 documentation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72895022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25C18F4-90FF-869B-D16A-31F40314E23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Github</a:t>
            </a:r>
            <a:r>
              <a:rPr lang="en-US" dirty="0"/>
              <a:t> link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728B4D2-2154-F20B-F64F-A6097D21B39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 err="1"/>
              <a:t>Github</a:t>
            </a:r>
            <a:r>
              <a:rPr lang="en-IN" dirty="0"/>
              <a:t> Link : https://</a:t>
            </a:r>
            <a:r>
              <a:rPr lang="en-IN" dirty="0" err="1"/>
              <a:t>github.com</a:t>
            </a:r>
            <a:r>
              <a:rPr lang="en-IN" dirty="0"/>
              <a:t>/</a:t>
            </a:r>
            <a:r>
              <a:rPr lang="en-IN" dirty="0" err="1"/>
              <a:t>SiegingPrism</a:t>
            </a:r>
            <a:r>
              <a:rPr lang="en-IN" dirty="0"/>
              <a:t>/AI-Travel-Planner-for-Students</a:t>
            </a:r>
          </a:p>
        </p:txBody>
      </p:sp>
    </p:spTree>
    <p:extLst>
      <p:ext uri="{BB962C8B-B14F-4D97-AF65-F5344CB8AC3E}">
        <p14:creationId xmlns:p14="http://schemas.microsoft.com/office/powerpoint/2010/main" val="199590936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8BE4CA82-64EC-4D4E-A5E5-3EBB66E7B2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63041" y="2766218"/>
            <a:ext cx="9298744" cy="1325563"/>
          </a:xfrm>
        </p:spPr>
        <p:txBody>
          <a:bodyPr/>
          <a:lstStyle/>
          <a:p>
            <a:pPr algn="ctr"/>
            <a:r>
              <a:rPr lang="en-US" b="1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THANK YOU</a:t>
            </a:r>
          </a:p>
        </p:txBody>
      </p:sp>
    </p:spTree>
    <p:extLst>
      <p:ext uri="{BB962C8B-B14F-4D97-AF65-F5344CB8AC3E}">
        <p14:creationId xmlns:p14="http://schemas.microsoft.com/office/powerpoint/2010/main" val="4066255318"/>
      </p:ext>
    </p:extLst>
  </p:cSld>
  <p:clrMapOvr>
    <a:masterClrMapping/>
  </p:clrMapOvr>
</p:sld>
</file>

<file path=ppt/theme/theme1.xml><?xml version="1.0" encoding="utf-8"?>
<a:theme xmlns:a="http://schemas.openxmlformats.org/drawingml/2006/main" name="DividendVTI">
  <a:themeElements>
    <a:clrScheme name="Blue II">
      <a:dk1>
        <a:sysClr val="windowText" lastClr="000000"/>
      </a:dk1>
      <a:lt1>
        <a:sysClr val="window" lastClr="FFFFFF"/>
      </a:lt1>
      <a:dk2>
        <a:srgbClr val="335B74"/>
      </a:dk2>
      <a:lt2>
        <a:srgbClr val="DFE3E5"/>
      </a:lt2>
      <a:accent1>
        <a:srgbClr val="1CADE4"/>
      </a:accent1>
      <a:accent2>
        <a:srgbClr val="2683C6"/>
      </a:accent2>
      <a:accent3>
        <a:srgbClr val="27CED7"/>
      </a:accent3>
      <a:accent4>
        <a:srgbClr val="42BA97"/>
      </a:accent4>
      <a:accent5>
        <a:srgbClr val="3E8853"/>
      </a:accent5>
      <a:accent6>
        <a:srgbClr val="62A39F"/>
      </a:accent6>
      <a:hlink>
        <a:srgbClr val="6EAC1C"/>
      </a:hlink>
      <a:folHlink>
        <a:srgbClr val="B26B02"/>
      </a:folHlink>
    </a:clrScheme>
    <a:fontScheme name="Dividend">
      <a:majorFont>
        <a:latin typeface="Franklin Gothic Demi" panose="020B0502020104020203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Franklin Gothic Book" panose="020B0502020104020203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Dividend">
      <a:fillStyleLst>
        <a:solidFill>
          <a:schemeClr val="phClr"/>
        </a:solidFill>
        <a:gradFill rotWithShape="1">
          <a:gsLst>
            <a:gs pos="0">
              <a:schemeClr val="phClr">
                <a:tint val="68000"/>
                <a:alpha val="90000"/>
                <a:lumMod val="100000"/>
              </a:schemeClr>
            </a:gs>
            <a:gs pos="100000">
              <a:schemeClr val="phClr">
                <a:tint val="90000"/>
                <a:lumMod val="95000"/>
              </a:schemeClr>
            </a:gs>
          </a:gsLst>
          <a:lin ang="5400000" scaled="1"/>
        </a:gradFill>
        <a:gradFill rotWithShape="1">
          <a:gsLst>
            <a:gs pos="0">
              <a:schemeClr val="phClr">
                <a:tint val="98000"/>
                <a:lumMod val="110000"/>
              </a:schemeClr>
            </a:gs>
            <a:gs pos="84000">
              <a:schemeClr val="phClr">
                <a:shade val="90000"/>
                <a:lumMod val="88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>
              <a:lumMod val="90000"/>
            </a:schemeClr>
          </a:solidFill>
          <a:prstDash val="solid"/>
        </a:ln>
        <a:ln w="22225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55000"/>
              </a:srgbClr>
            </a:outerShdw>
          </a:effectLst>
        </a:effectStyle>
        <a:effectStyle>
          <a:effectLst>
            <a:outerShdw blurRad="88900" dist="38100" dir="504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>
              <a:rot lat="0" lon="0" rev="1200000"/>
            </a:lightRig>
          </a:scene3d>
          <a:sp3d>
            <a:bevelT w="38100" h="508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88000">
              <a:schemeClr val="phClr">
                <a:shade val="94000"/>
                <a:satMod val="110000"/>
                <a:lumMod val="8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8000"/>
                <a:satMod val="110000"/>
                <a:lumMod val="8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DividendVTI" id="{97558BDE-0B66-457C-BB6F-7B1B22DAA9B8}" vid="{F53508A3-AC60-448A-AF37-934D5F1A0D5E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MediaServiceKeyPoints xmlns="9162bd5b-4ed9-4da3-b376-05204580ba3f" xsi:nil="true"/>
    <_activity xmlns="9162bd5b-4ed9-4da3-b376-05204580ba3f" xsi:nil="true"/>
  </documentManagement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0F1872188ABCFC48BECA6C87E8AC3285" ma:contentTypeVersion="17" ma:contentTypeDescription="Create a new document." ma:contentTypeScope="" ma:versionID="55a158675e089c6a85ab0f83b89e1a15">
  <xsd:schema xmlns:xsd="http://www.w3.org/2001/XMLSchema" xmlns:xs="http://www.w3.org/2001/XMLSchema" xmlns:p="http://schemas.microsoft.com/office/2006/metadata/properties" xmlns:ns3="9162bd5b-4ed9-4da3-b376-05204580ba3f" xmlns:ns4="c0fa2617-96bd-425d-8578-e93563fe37c5" targetNamespace="http://schemas.microsoft.com/office/2006/metadata/properties" ma:root="true" ma:fieldsID="b35f082308864fa161c4a0a9eca35eff" ns3:_="" ns4:_="">
    <xsd:import namespace="9162bd5b-4ed9-4da3-b376-05204580ba3f"/>
    <xsd:import namespace="c0fa2617-96bd-425d-8578-e93563fe37c5"/>
    <xsd:element name="properties">
      <xsd:complexType>
        <xsd:sequence>
          <xsd:element name="documentManagement">
            <xsd:complexType>
              <xsd:all>
                <xsd:element ref="ns3:MediaServiceMetadata" minOccurs="0"/>
                <xsd:element ref="ns3:MediaServiceFastMetadata" minOccurs="0"/>
                <xsd:element ref="ns4:SharedWithUsers" minOccurs="0"/>
                <xsd:element ref="ns4:SharedWithDetails" minOccurs="0"/>
                <xsd:element ref="ns4:SharingHintHash" minOccurs="0"/>
                <xsd:element ref="ns3:MediaServiceAutoTags" minOccurs="0"/>
                <xsd:element ref="ns3:MediaServiceOCR" minOccurs="0"/>
                <xsd:element ref="ns3:MediaServiceGenerationTime" minOccurs="0"/>
                <xsd:element ref="ns3:MediaServiceEventHashCode" minOccurs="0"/>
                <xsd:element ref="ns3:MediaServiceAutoKeyPoints" minOccurs="0"/>
                <xsd:element ref="ns3:MediaServiceKeyPoints" minOccurs="0"/>
                <xsd:element ref="ns3:MediaServiceDateTaken" minOccurs="0"/>
                <xsd:element ref="ns3:MediaLengthInSeconds" minOccurs="0"/>
                <xsd:element ref="ns3:MediaServiceLocation" minOccurs="0"/>
                <xsd:element ref="ns3:_activity" minOccurs="0"/>
                <xsd:element ref="ns3:MediaServiceObjectDetectorVersions" minOccurs="0"/>
                <xsd:element ref="ns3:MediaServiceSystemTag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9162bd5b-4ed9-4da3-b376-05204580ba3f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Tags" ma:index="13" nillable="true" ma:displayName="Tags" ma:internalName="MediaServiceAutoTags" ma:readOnly="true">
      <xsd:simpleType>
        <xsd:restriction base="dms:Text"/>
      </xsd:simpleType>
    </xsd:element>
    <xsd:element name="MediaServiceOCR" ma:index="14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5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6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AutoKeyPoints" ma:index="17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8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ServiceDateTaken" ma:index="19" nillable="true" ma:displayName="MediaServiceDateTaken" ma:hidden="true" ma:internalName="MediaServiceDateTaken" ma:readOnly="true">
      <xsd:simpleType>
        <xsd:restriction base="dms:Text"/>
      </xsd:simpleType>
    </xsd:element>
    <xsd:element name="MediaLengthInSeconds" ma:index="20" nillable="true" ma:displayName="Length (seconds)" ma:internalName="MediaLengthInSeconds" ma:readOnly="true">
      <xsd:simpleType>
        <xsd:restriction base="dms:Unknown"/>
      </xsd:simpleType>
    </xsd:element>
    <xsd:element name="MediaServiceLocation" ma:index="21" nillable="true" ma:displayName="Location" ma:internalName="MediaServiceLocation" ma:readOnly="true">
      <xsd:simpleType>
        <xsd:restriction base="dms:Text"/>
      </xsd:simpleType>
    </xsd:element>
    <xsd:element name="_activity" ma:index="22" nillable="true" ma:displayName="_activity" ma:hidden="true" ma:internalName="_activity">
      <xsd:simpleType>
        <xsd:restriction base="dms:Note"/>
      </xsd:simpleType>
    </xsd:element>
    <xsd:element name="MediaServiceObjectDetectorVersions" ma:index="23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ServiceSystemTags" ma:index="24" nillable="true" ma:displayName="MediaServiceSystemTags" ma:hidden="true" ma:internalName="MediaServiceSystemTag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c0fa2617-96bd-425d-8578-e93563fe37c5" elementFormDefault="qualified">
    <xsd:import namespace="http://schemas.microsoft.com/office/2006/documentManagement/types"/>
    <xsd:import namespace="http://schemas.microsoft.com/office/infopath/2007/PartnerControls"/>
    <xsd:element name="SharedWithUsers" ma:index="10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1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SharingHintHash" ma:index="12" nillable="true" ma:displayName="Sharing Hint Hash" ma:hidden="true" ma:internalName="SharingHintHash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927BD4C1-B6B1-4715-ABF9-E660A51A4EA0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8D289AE2-D2AE-49D1-AFAC-3A79F6794255}">
  <ds:schemaRefs>
    <ds:schemaRef ds:uri="9162bd5b-4ed9-4da3-b376-05204580ba3f"/>
    <ds:schemaRef ds:uri="c0fa2617-96bd-425d-8578-e93563fe37c5"/>
    <ds:schemaRef ds:uri="http://purl.org/dc/dcmitype/"/>
    <ds:schemaRef ds:uri="http://purl.org/dc/elements/1.1/"/>
    <ds:schemaRef ds:uri="http://purl.org/dc/terms/"/>
    <ds:schemaRef ds:uri="http://schemas.microsoft.com/office/2006/documentManagement/types"/>
    <ds:schemaRef ds:uri="http://schemas.microsoft.com/office/2006/metadata/properties"/>
    <ds:schemaRef ds:uri="http://schemas.microsoft.com/office/infopath/2007/PartnerControls"/>
    <ds:schemaRef ds:uri="http://schemas.openxmlformats.org/package/2006/metadata/core-properties"/>
    <ds:schemaRef ds:uri="http://www.w3.org/XML/1998/namespace"/>
  </ds:schemaRefs>
</ds:datastoreItem>
</file>

<file path=customXml/itemProps3.xml><?xml version="1.0" encoding="utf-8"?>
<ds:datastoreItem xmlns:ds="http://schemas.openxmlformats.org/officeDocument/2006/customXml" ds:itemID="{6E816721-11E4-4989-8472-AB5A7EC20404}">
  <ds:schemaRefs>
    <ds:schemaRef ds:uri="9162bd5b-4ed9-4da3-b376-05204580ba3f"/>
    <ds:schemaRef ds:uri="c0fa2617-96bd-425d-8578-e93563fe37c5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Future forward</Template>
  <TotalTime>1060</TotalTime>
  <Words>599</Words>
  <Application>Microsoft Macintosh PowerPoint</Application>
  <PresentationFormat>Widescreen</PresentationFormat>
  <Paragraphs>151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20" baseType="lpstr">
      <vt:lpstr>Arial</vt:lpstr>
      <vt:lpstr>Calibri</vt:lpstr>
      <vt:lpstr>Calibri Light</vt:lpstr>
      <vt:lpstr>Franklin Gothic Book</vt:lpstr>
      <vt:lpstr>Franklin Gothic Demi</vt:lpstr>
      <vt:lpstr>Wingdings</vt:lpstr>
      <vt:lpstr>Wingdings 2</vt:lpstr>
      <vt:lpstr>DividendVTI</vt:lpstr>
      <vt:lpstr>Project title</vt:lpstr>
      <vt:lpstr>OUTLINE</vt:lpstr>
      <vt:lpstr>Problem Statement</vt:lpstr>
      <vt:lpstr>Proposed Solution</vt:lpstr>
      <vt:lpstr>System  Approach</vt:lpstr>
      <vt:lpstr>Algorithm &amp; Deployment</vt:lpstr>
      <vt:lpstr>Result</vt:lpstr>
      <vt:lpstr>Conclusion</vt:lpstr>
      <vt:lpstr>PowerPoint Presentation</vt:lpstr>
      <vt:lpstr>References</vt:lpstr>
      <vt:lpstr>Github link</vt:lpstr>
      <vt:lpstr>THANK YOU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SkillsBuild Partner Update template</dc:title>
  <dc:creator>Vaibhav Ostwal</dc:creator>
  <cp:lastModifiedBy>Ishan I Bassin</cp:lastModifiedBy>
  <cp:revision>39</cp:revision>
  <dcterms:created xsi:type="dcterms:W3CDTF">2021-05-26T16:50:10Z</dcterms:created>
  <dcterms:modified xsi:type="dcterms:W3CDTF">2026-07-02T05:08:48Z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0x0101000F1872188ABCFC48BECA6C87E8AC3285</vt:lpwstr>
  </property>
</Properties>
</file>